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9144000" cy="5143500" type="screen16x9"/>
  <p:notesSz cx="6858000" cy="9144000"/>
  <p:embeddedFontLst>
    <p:embeddedFont>
      <p:font typeface="Poppins" pitchFamily="2" charset="77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/>
    <p:restoredTop sz="94729"/>
  </p:normalViewPr>
  <p:slideViewPr>
    <p:cSldViewPr snapToGrid="0">
      <p:cViewPr varScale="1">
        <p:scale>
          <a:sx n="119" d="100"/>
          <a:sy n="119" d="100"/>
        </p:scale>
        <p:origin x="200" y="5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khithkanigolla/CrowdTw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hyperlink" Target="https://drive.google.com/drive/folders/14enyEwmFWi9_9jwwZTjx1caFQ9Bj-fJf?usp=sharin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FFF"/>
                </a:solidFill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3316325"/>
            <a:ext cx="8964175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IN" sz="1600" dirty="0">
                <a:solidFill>
                  <a:schemeClr val="tx1"/>
                </a:solidFill>
              </a:rPr>
              <a:t>Team name — </a:t>
            </a:r>
            <a:r>
              <a:rPr lang="en-IN" sz="1600" b="1" dirty="0">
                <a:solidFill>
                  <a:schemeClr val="tx1"/>
                </a:solidFill>
              </a:rPr>
              <a:t>Nexus for AMD</a:t>
            </a:r>
            <a:endParaRPr lang="en-IN" b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IN" sz="1600" dirty="0">
                <a:solidFill>
                  <a:schemeClr val="tx1"/>
                </a:solidFill>
              </a:rPr>
              <a:t>Team leader name — </a:t>
            </a:r>
            <a:r>
              <a:rPr lang="en-IN" sz="1600" b="1" dirty="0">
                <a:solidFill>
                  <a:schemeClr val="tx1"/>
                </a:solidFill>
              </a:rPr>
              <a:t>Likhith Kanigolla</a:t>
            </a:r>
          </a:p>
          <a:p>
            <a:pPr marL="45720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IN" sz="1600" dirty="0">
                <a:solidFill>
                  <a:schemeClr val="tx1"/>
                </a:solidFill>
              </a:rPr>
              <a:t>Problem Statement — </a:t>
            </a:r>
            <a:r>
              <a:rPr lang="en-IN" sz="1600" b="1" dirty="0">
                <a:solidFill>
                  <a:schemeClr val="tx1"/>
                </a:solidFill>
              </a:rPr>
              <a:t>AI for Smart Cities</a:t>
            </a:r>
          </a:p>
          <a:p>
            <a:pPr marL="45720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IN" sz="1600" dirty="0">
                <a:solidFill>
                  <a:schemeClr val="tx1"/>
                </a:solidFill>
              </a:rPr>
              <a:t>Proposed Solution — </a:t>
            </a:r>
            <a:r>
              <a:rPr lang="en-IN" sz="1600" dirty="0"/>
              <a:t>Smart Campus Crowd Management using Digital Twin &amp; IoT Sensors</a:t>
            </a:r>
            <a:endParaRPr lang="en-IN" sz="1600" dirty="0">
              <a:solidFill>
                <a:schemeClr val="tx1"/>
              </a:solidFill>
            </a:endParaRPr>
          </a:p>
          <a:p>
            <a:pPr marL="45720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endParaRPr lang="en-IN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442DAB-4E1E-AA59-0A8D-4B60ED48B1F4}"/>
              </a:ext>
            </a:extLst>
          </p:cNvPr>
          <p:cNvSpPr txBox="1"/>
          <p:nvPr/>
        </p:nvSpPr>
        <p:spPr>
          <a:xfrm>
            <a:off x="119268" y="1053945"/>
            <a:ext cx="475090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IN" sz="1400" dirty="0">
              <a:solidFill>
                <a:schemeClr val="tx1"/>
              </a:solidFill>
              <a:latin typeface="+mn-lt"/>
              <a:ea typeface="Poppins"/>
              <a:cs typeface="Poppins"/>
              <a:sym typeface="Poppins"/>
            </a:endParaRPr>
          </a:p>
          <a:p>
            <a:pPr marL="285750" indent="-171450" algn="l"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chemeClr val="tx1"/>
                </a:solidFill>
                <a:latin typeface="+mn-lt"/>
              </a:rPr>
              <a:t>CrowdTwin</a:t>
            </a:r>
            <a:r>
              <a:rPr lang="en-IN" sz="1400" dirty="0">
                <a:solidFill>
                  <a:schemeClr val="tx1"/>
                </a:solidFill>
                <a:latin typeface="+mn-lt"/>
              </a:rPr>
              <a:t> is a real-time Digital Twin platform for university campus crowd management</a:t>
            </a:r>
          </a:p>
          <a:p>
            <a:pPr marL="285750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+mn-lt"/>
              </a:rPr>
              <a:t>IoT sensors (cameras, occupancy sensors, road monitors) are deployed across the campus to capture live crowd data</a:t>
            </a:r>
          </a:p>
          <a:p>
            <a:pPr marL="285750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+mn-lt"/>
              </a:rPr>
              <a:t>A 3D interactive map renders the campus with semantic building classification and real-time agent movement</a:t>
            </a:r>
          </a:p>
          <a:p>
            <a:pPr marL="285750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+mn-lt"/>
              </a:rPr>
              <a:t>Three operational modes: Visualize (monitor), Actuate (control), Simulate (predict)</a:t>
            </a:r>
          </a:p>
          <a:p>
            <a:pPr marL="285750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+mn-lt"/>
              </a:rPr>
              <a:t>AI-powered decision engine (Gemini/GPT) provides smart recommendations for crowd management</a:t>
            </a:r>
          </a:p>
          <a:p>
            <a:pPr marL="285750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+mn-lt"/>
              </a:rPr>
              <a:t>Prevents stampedes, optimizes event logistics, and enables data-driven campus planning</a:t>
            </a:r>
          </a:p>
          <a:p>
            <a:pPr marL="285750" indent="-171450" algn="l"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chemeClr val="tx1"/>
                </a:solidFill>
                <a:latin typeface="+mn-lt"/>
              </a:rPr>
              <a:t>CrowdTwin</a:t>
            </a:r>
            <a:r>
              <a:rPr lang="en-IN" sz="1400" dirty="0">
                <a:solidFill>
                  <a:schemeClr val="tx1"/>
                </a:solidFill>
                <a:latin typeface="+mn-lt"/>
              </a:rPr>
              <a:t> observes, predicts, decides, and intervenes in real-time.”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05E85-A06A-2B60-FD0C-0A1FD0A977CA}"/>
              </a:ext>
            </a:extLst>
          </p:cNvPr>
          <p:cNvSpPr txBox="1"/>
          <p:nvPr/>
        </p:nvSpPr>
        <p:spPr>
          <a:xfrm>
            <a:off x="5327375" y="4320226"/>
            <a:ext cx="3697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/>
              <a:t>Projected Peak Conditions (Medium-sized campus):</a:t>
            </a:r>
          </a:p>
          <a:p>
            <a:pPr>
              <a:buNone/>
            </a:pPr>
            <a:r>
              <a:rPr lang="en-IN" sz="800" dirty="0"/>
              <a:t>• 1,000–3,000 people moving simultaneously</a:t>
            </a:r>
            <a:br>
              <a:rPr lang="en-IN" sz="800" dirty="0"/>
            </a:br>
            <a:r>
              <a:rPr lang="en-IN" sz="800" dirty="0"/>
              <a:t>• 8–15 high-density hotspots</a:t>
            </a:r>
            <a:br>
              <a:rPr lang="en-IN" sz="800" dirty="0"/>
            </a:br>
            <a:r>
              <a:rPr lang="en-IN" sz="800" dirty="0"/>
              <a:t>• 2–5 min delay in manual response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926FB2EA-EEC1-5F13-20F6-285255564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38" y="711422"/>
            <a:ext cx="3436140" cy="379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75;p15" title="AMD.PS.S11.png">
            <a:extLst>
              <a:ext uri="{FF2B5EF4-FFF2-40B4-BE49-F238E27FC236}">
                <a16:creationId xmlns:a16="http://schemas.microsoft.com/office/drawing/2014/main" id="{F7660038-8024-BE24-096C-A6CE4EF86C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984990-174C-4281-FE1F-DEE55DFB0B4A}"/>
              </a:ext>
            </a:extLst>
          </p:cNvPr>
          <p:cNvSpPr txBox="1"/>
          <p:nvPr/>
        </p:nvSpPr>
        <p:spPr>
          <a:xfrm>
            <a:off x="2286000" y="4813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0AA4D9-3B7F-4883-503D-3007DC9F2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574" y="789132"/>
            <a:ext cx="91440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12F291A-5301-29EA-1006-84E255312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913" y="635243"/>
            <a:ext cx="1834513" cy="158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E45C01F-7BFF-DB81-1556-5FA14DDF75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5" b="8353"/>
          <a:stretch>
            <a:fillRect/>
          </a:stretch>
        </p:blipFill>
        <p:spPr bwMode="auto">
          <a:xfrm>
            <a:off x="3841474" y="968375"/>
            <a:ext cx="5536096" cy="398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7D2E10-5409-F64C-5DA7-ED818A0EC2CB}"/>
              </a:ext>
            </a:extLst>
          </p:cNvPr>
          <p:cNvSpPr txBox="1"/>
          <p:nvPr/>
        </p:nvSpPr>
        <p:spPr>
          <a:xfrm>
            <a:off x="194916" y="1309931"/>
            <a:ext cx="3763343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1050" dirty="0">
                <a:effectLst/>
              </a:rPr>
              <a:t>• </a:t>
            </a:r>
            <a:r>
              <a:rPr lang="en-IN" sz="1050" b="1" dirty="0">
                <a:effectLst/>
              </a:rPr>
              <a:t>VISUALIZE: </a:t>
            </a:r>
            <a:r>
              <a:rPr lang="en-IN" sz="1050" dirty="0">
                <a:effectLst/>
              </a:rPr>
              <a:t>Live IoT camera feeds, 3D campus map, real-time zone occupancy, people tracking </a:t>
            </a:r>
          </a:p>
          <a:p>
            <a:pPr algn="l" rtl="0">
              <a:buNone/>
            </a:pPr>
            <a:r>
              <a:rPr lang="en-IN" sz="1050" b="1" dirty="0">
                <a:effectLst/>
              </a:rPr>
              <a:t>• ACTUATE: </a:t>
            </a:r>
            <a:r>
              <a:rPr lang="en-IN" sz="1050" dirty="0">
                <a:effectLst/>
              </a:rPr>
              <a:t>Road control (Open/Soft Close/Hard Close), classroom IoT setup, automated actuation rules, event management</a:t>
            </a:r>
          </a:p>
          <a:p>
            <a:pPr algn="l" rtl="0">
              <a:buNone/>
            </a:pPr>
            <a:r>
              <a:rPr lang="en-IN" sz="1050" dirty="0">
                <a:effectLst/>
              </a:rPr>
              <a:t>• </a:t>
            </a:r>
            <a:r>
              <a:rPr lang="en-IN" sz="1050" b="1" dirty="0">
                <a:effectLst/>
              </a:rPr>
              <a:t>SIMULATE: </a:t>
            </a:r>
            <a:r>
              <a:rPr lang="en-IN" sz="1050" dirty="0">
                <a:effectLst/>
              </a:rPr>
              <a:t>Time-controlled sandbox (1x/5x/15x), schedule builder, what-if road closures, congestion prediction</a:t>
            </a:r>
          </a:p>
          <a:p>
            <a:pPr algn="l" rtl="0">
              <a:buNone/>
            </a:pPr>
            <a:r>
              <a:rPr lang="en-IN" sz="1050" dirty="0">
                <a:effectLst/>
              </a:rPr>
              <a:t>• </a:t>
            </a:r>
            <a:r>
              <a:rPr lang="en-IN" sz="1050" b="1" dirty="0">
                <a:effectLst/>
              </a:rPr>
              <a:t>AI ENGINE: </a:t>
            </a:r>
            <a:r>
              <a:rPr lang="en-IN" sz="1050" dirty="0">
                <a:effectLst/>
              </a:rPr>
              <a:t>Gemini/GPT-powered building suggestions, </a:t>
            </a:r>
            <a:r>
              <a:rPr lang="en-IN" sz="1050" dirty="0" err="1">
                <a:effectLst/>
              </a:rPr>
              <a:t>LangGraph</a:t>
            </a:r>
            <a:r>
              <a:rPr lang="en-IN" sz="1050" dirty="0">
                <a:effectLst/>
              </a:rPr>
              <a:t> decision pipeline, automatic fallback heuristics</a:t>
            </a:r>
          </a:p>
          <a:p>
            <a:pPr algn="l" rtl="0">
              <a:buNone/>
            </a:pPr>
            <a:r>
              <a:rPr lang="en-IN" sz="1050" dirty="0">
                <a:effectLst/>
              </a:rPr>
              <a:t>• </a:t>
            </a:r>
            <a:r>
              <a:rPr lang="en-IN" sz="1050" b="1" dirty="0">
                <a:effectLst/>
              </a:rPr>
              <a:t>IoT SENSORS: </a:t>
            </a:r>
            <a:r>
              <a:rPr lang="en-IN" sz="1050" dirty="0">
                <a:effectLst/>
              </a:rPr>
              <a:t>camera nodes at building entrances, occupancy sensors in buildings, road congestion monitors</a:t>
            </a:r>
          </a:p>
          <a:p>
            <a:pPr algn="l" rtl="0">
              <a:buNone/>
            </a:pPr>
            <a:r>
              <a:rPr lang="en-IN" sz="1050" dirty="0">
                <a:effectLst/>
              </a:rPr>
              <a:t>• </a:t>
            </a:r>
            <a:r>
              <a:rPr lang="en-IN" sz="1050" b="1" dirty="0">
                <a:effectLst/>
              </a:rPr>
              <a:t>3D RENDERING: </a:t>
            </a:r>
            <a:r>
              <a:rPr lang="en-IN" sz="1050" dirty="0" err="1">
                <a:effectLst/>
              </a:rPr>
              <a:t>MapLibre</a:t>
            </a:r>
            <a:r>
              <a:rPr lang="en-IN" sz="1050" dirty="0">
                <a:effectLst/>
              </a:rPr>
              <a:t> GL with GLTF models, semantic building </a:t>
            </a:r>
            <a:r>
              <a:rPr lang="en-IN" sz="1050" dirty="0" err="1">
                <a:effectLst/>
              </a:rPr>
              <a:t>colors</a:t>
            </a:r>
            <a:r>
              <a:rPr lang="en-IN" sz="1050" dirty="0">
                <a:effectLst/>
              </a:rPr>
              <a:t>, A* pathfinding, cohort-based agent simulation</a:t>
            </a:r>
          </a:p>
          <a:p>
            <a:pPr algn="l" rtl="0">
              <a:buNone/>
            </a:pPr>
            <a:r>
              <a:rPr lang="en-IN" sz="1050" dirty="0">
                <a:effectLst/>
              </a:rPr>
              <a:t>• </a:t>
            </a:r>
            <a:r>
              <a:rPr lang="en-IN" sz="1050" b="1" dirty="0">
                <a:effectLst/>
              </a:rPr>
              <a:t>CSV UPLOAD: </a:t>
            </a:r>
            <a:r>
              <a:rPr lang="en-IN" sz="1050" dirty="0">
                <a:effectLst/>
              </a:rPr>
              <a:t>Import real timetables, automatic schedule parsing, movement plan generation</a:t>
            </a:r>
          </a:p>
          <a:p>
            <a:pPr algn="l" rtl="0">
              <a:buNone/>
            </a:pPr>
            <a:r>
              <a:rPr lang="en-IN" sz="1050">
                <a:effectLst/>
              </a:rPr>
              <a:t>• </a:t>
            </a:r>
            <a:r>
              <a:rPr lang="en-IN" sz="1050" b="1" dirty="0">
                <a:effectLst/>
              </a:rPr>
              <a:t>ROLE-BASED ACCESS: </a:t>
            </a:r>
            <a:r>
              <a:rPr lang="en-IN" sz="1050" dirty="0">
                <a:effectLst/>
              </a:rPr>
              <a:t>Admin (full control), Faculty (classroom setup), Student (limited actuation)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5423178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dirty="0">
                <a:solidFill>
                  <a:srgbClr val="333333"/>
                </a:solidFill>
              </a:rPr>
              <a:t>Process Flow: </a:t>
            </a:r>
            <a:endParaRPr lang="en-US" sz="1300" b="1" dirty="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dirty="0">
                <a:solidFill>
                  <a:srgbClr val="333333"/>
                </a:solidFill>
              </a:rPr>
              <a:t>IoT → Digital Twin → AI → Actuation</a:t>
            </a:r>
            <a:endParaRPr sz="1300" dirty="0">
              <a:latin typeface="Poppins"/>
              <a:ea typeface="Poppins"/>
              <a:cs typeface="Poppins"/>
              <a:sym typeface="Poppins"/>
            </a:endParaRPr>
          </a:p>
          <a:p>
            <a:pPr algn="l"/>
            <a:r>
              <a:rPr sz="1100" dirty="0">
                <a:solidFill>
                  <a:srgbClr val="444444"/>
                </a:solidFill>
              </a:rPr>
              <a:t>• DATA COLLECTION: IoT sensors (cameras, occupancy, road monitors) push data via REST APIs</a:t>
            </a:r>
          </a:p>
          <a:p>
            <a:pPr algn="l"/>
            <a:r>
              <a:rPr sz="1100" dirty="0">
                <a:solidFill>
                  <a:srgbClr val="444444"/>
                </a:solidFill>
              </a:rPr>
              <a:t>• INGESTION: FastAPI backend receives, validates, and stores sensor data in real-time</a:t>
            </a:r>
          </a:p>
          <a:p>
            <a:pPr algn="l"/>
            <a:r>
              <a:rPr sz="1100" dirty="0">
                <a:solidFill>
                  <a:srgbClr val="444444"/>
                </a:solidFill>
              </a:rPr>
              <a:t>• VISUALIZATION: 3D </a:t>
            </a:r>
            <a:r>
              <a:rPr sz="1100" dirty="0" err="1">
                <a:solidFill>
                  <a:srgbClr val="444444"/>
                </a:solidFill>
              </a:rPr>
              <a:t>MapLibre</a:t>
            </a:r>
            <a:r>
              <a:rPr sz="1100" dirty="0">
                <a:solidFill>
                  <a:srgbClr val="444444"/>
                </a:solidFill>
              </a:rPr>
              <a:t> canvas renders campus with live agent positions from sensor data</a:t>
            </a:r>
          </a:p>
          <a:p>
            <a:pPr algn="l"/>
            <a:r>
              <a:rPr sz="1100" dirty="0">
                <a:solidFill>
                  <a:srgbClr val="444444"/>
                </a:solidFill>
              </a:rPr>
              <a:t>• ANALYSIS: Congestion engine aggregates occupancy data, identifies hotspots and bottlenecks</a:t>
            </a:r>
          </a:p>
          <a:p>
            <a:pPr algn="l"/>
            <a:r>
              <a:rPr sz="1100" dirty="0">
                <a:solidFill>
                  <a:srgbClr val="444444"/>
                </a:solidFill>
              </a:rPr>
              <a:t>• AI DECISION: Gemini/GPT analyzes congestion patterns and suggests optimal actuation actions</a:t>
            </a:r>
          </a:p>
          <a:p>
            <a:pPr algn="l"/>
            <a:r>
              <a:rPr sz="1100" dirty="0">
                <a:solidFill>
                  <a:srgbClr val="444444"/>
                </a:solidFill>
              </a:rPr>
              <a:t>• ACTUATION: Road closures, event redirects, and classroom setup triggered automatically or manually</a:t>
            </a:r>
          </a:p>
          <a:p>
            <a:pPr algn="l"/>
            <a:r>
              <a:rPr sz="1100" dirty="0">
                <a:solidFill>
                  <a:srgbClr val="444444"/>
                </a:solidFill>
              </a:rPr>
              <a:t>• SIMULATION: Sandbox mode allows testing what-if scenarios before deploying changes</a:t>
            </a:r>
          </a:p>
          <a:p>
            <a:pPr algn="l"/>
            <a:r>
              <a:rPr sz="1100" dirty="0">
                <a:solidFill>
                  <a:srgbClr val="444444"/>
                </a:solidFill>
              </a:rPr>
              <a:t>• FEEDBACK LOOP: Sensor data validates actuation effects, enabling continuous optimization</a:t>
            </a: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D548F38-B1D9-6BC1-3C02-C5C20D73FF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18"/>
          <a:stretch>
            <a:fillRect/>
          </a:stretch>
        </p:blipFill>
        <p:spPr bwMode="auto">
          <a:xfrm>
            <a:off x="5615609" y="619081"/>
            <a:ext cx="3637720" cy="466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311700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Wireframes/Mock diagrams of the proposed solution</a:t>
            </a:r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09124"/>
            <a:ext cx="8520600" cy="432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dirty="0">
                <a:solidFill>
                  <a:srgbClr val="444444"/>
                </a:solidFill>
              </a:rPr>
              <a:t>See attached screenshots: Visualize Mode, Actuate Mode, Simulate Mode, 3D Map View</a:t>
            </a: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036D918-BD85-EC64-F594-B41D499B0397}"/>
              </a:ext>
            </a:extLst>
          </p:cNvPr>
          <p:cNvGrpSpPr/>
          <p:nvPr/>
        </p:nvGrpSpPr>
        <p:grpSpPr>
          <a:xfrm>
            <a:off x="6062869" y="1978431"/>
            <a:ext cx="3081131" cy="2388504"/>
            <a:chOff x="5495833" y="1701375"/>
            <a:chExt cx="3237076" cy="3007344"/>
          </a:xfrm>
        </p:grpSpPr>
        <p:pic>
          <p:nvPicPr>
            <p:cNvPr id="102" name="Picture 101" descr="03_simulate_mod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5833" y="1701376"/>
              <a:ext cx="2262536" cy="142066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44CD67-FA40-C746-91F7-56433C9B0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31113" y="1701375"/>
              <a:ext cx="901796" cy="300734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290BECC-C51D-C547-D0D4-DABE76631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5833" y="3288057"/>
              <a:ext cx="2262536" cy="142066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0D5FC6-F1C4-7EB4-793C-6E1CFB490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31113" y="3983935"/>
              <a:ext cx="883355" cy="724783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5B0BCB-522C-08B8-DB88-07250230B89D}"/>
              </a:ext>
            </a:extLst>
          </p:cNvPr>
          <p:cNvGrpSpPr/>
          <p:nvPr/>
        </p:nvGrpSpPr>
        <p:grpSpPr>
          <a:xfrm>
            <a:off x="2839308" y="1994652"/>
            <a:ext cx="3154322" cy="2388504"/>
            <a:chOff x="2574236" y="1701375"/>
            <a:chExt cx="2928163" cy="2753136"/>
          </a:xfrm>
        </p:grpSpPr>
        <p:pic>
          <p:nvPicPr>
            <p:cNvPr id="101" name="Picture 100" descr="02_actuate_mod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74236" y="1701376"/>
              <a:ext cx="2059536" cy="129319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AFCE7D-07CD-F3B1-52A9-5B4986AAC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74236" y="3161314"/>
              <a:ext cx="2059536" cy="12931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AD80CF4-DE18-E2B4-E9D8-6FB366DE1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06516" y="1701375"/>
              <a:ext cx="795883" cy="275313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8FDE69-C4EC-BBDA-B324-91BD70E4984C}"/>
              </a:ext>
            </a:extLst>
          </p:cNvPr>
          <p:cNvGrpSpPr/>
          <p:nvPr/>
        </p:nvGrpSpPr>
        <p:grpSpPr>
          <a:xfrm>
            <a:off x="43344" y="1994652"/>
            <a:ext cx="2716841" cy="2388505"/>
            <a:chOff x="43344" y="1994652"/>
            <a:chExt cx="2957402" cy="2702904"/>
          </a:xfrm>
        </p:grpSpPr>
        <p:pic>
          <p:nvPicPr>
            <p:cNvPr id="100" name="Picture 99" descr="01_visualize_mod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3344" y="1994653"/>
              <a:ext cx="2123079" cy="133309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3442550-0AE7-CE9D-0A8F-B445307A7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344" y="3364460"/>
              <a:ext cx="2123079" cy="133309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44F9765-92E2-E775-BE23-90F0777C8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234477" y="1994652"/>
              <a:ext cx="766269" cy="2702903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55442E9-6734-C4F3-5577-C4D0E425AB7F}"/>
              </a:ext>
            </a:extLst>
          </p:cNvPr>
          <p:cNvSpPr/>
          <p:nvPr/>
        </p:nvSpPr>
        <p:spPr>
          <a:xfrm>
            <a:off x="0" y="1570648"/>
            <a:ext cx="2839308" cy="294171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9C1145-165A-8905-68CE-0E922AB02384}"/>
              </a:ext>
            </a:extLst>
          </p:cNvPr>
          <p:cNvSpPr/>
          <p:nvPr/>
        </p:nvSpPr>
        <p:spPr>
          <a:xfrm>
            <a:off x="2838547" y="1570648"/>
            <a:ext cx="3206770" cy="294171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DF3F46-238C-AFE9-C159-E1AD9BE4BBB3}"/>
              </a:ext>
            </a:extLst>
          </p:cNvPr>
          <p:cNvSpPr/>
          <p:nvPr/>
        </p:nvSpPr>
        <p:spPr>
          <a:xfrm>
            <a:off x="6044556" y="1570648"/>
            <a:ext cx="3099444" cy="294171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98EB1B-3B1C-6F7F-0ACA-78C0B8C51A36}"/>
              </a:ext>
            </a:extLst>
          </p:cNvPr>
          <p:cNvSpPr txBox="1"/>
          <p:nvPr/>
        </p:nvSpPr>
        <p:spPr>
          <a:xfrm>
            <a:off x="43344" y="1630598"/>
            <a:ext cx="90831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Poppins"/>
                <a:ea typeface="Poppins"/>
                <a:cs typeface="Poppins"/>
                <a:sym typeface="Poppins"/>
              </a:rPr>
              <a:t>                      Visualisation		Actuation(Control)			Simulation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4628048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dirty="0">
                <a:solidFill>
                  <a:srgbClr val="333333"/>
                </a:solidFill>
              </a:rPr>
              <a:t>System Architecture</a:t>
            </a:r>
            <a:endParaRPr lang="en-US" sz="1300" b="1" dirty="0">
              <a:latin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444444"/>
                </a:solidFill>
              </a:rPr>
              <a:t>   </a:t>
            </a:r>
            <a:r>
              <a:rPr sz="1000" b="1" dirty="0">
                <a:solidFill>
                  <a:srgbClr val="444444"/>
                </a:solidFill>
              </a:rPr>
              <a:t>FRONTEND LAYER: </a:t>
            </a:r>
            <a:r>
              <a:rPr sz="1000" dirty="0">
                <a:solidFill>
                  <a:srgbClr val="444444"/>
                </a:solidFill>
              </a:rPr>
              <a:t>React 18 + Vite 5 + </a:t>
            </a:r>
            <a:r>
              <a:rPr sz="1000" dirty="0" err="1">
                <a:solidFill>
                  <a:srgbClr val="444444"/>
                </a:solidFill>
              </a:rPr>
              <a:t>MapLibre</a:t>
            </a:r>
            <a:r>
              <a:rPr sz="1000" dirty="0">
                <a:solidFill>
                  <a:srgbClr val="444444"/>
                </a:solidFill>
              </a:rPr>
              <a:t> GL JS (3D rendering)</a:t>
            </a:r>
            <a:endParaRPr lang="en-US" sz="1000" dirty="0">
              <a:solidFill>
                <a:srgbClr val="44444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444444"/>
              </a:solidFill>
            </a:endParaRPr>
          </a:p>
          <a:p>
            <a:pPr algn="l"/>
            <a:r>
              <a:rPr sz="1000" dirty="0">
                <a:solidFill>
                  <a:srgbClr val="444444"/>
                </a:solidFill>
              </a:rPr>
              <a:t>•   → Components: </a:t>
            </a:r>
            <a:r>
              <a:rPr sz="1000" dirty="0" err="1">
                <a:solidFill>
                  <a:srgbClr val="444444"/>
                </a:solidFill>
              </a:rPr>
              <a:t>MapContainer</a:t>
            </a:r>
            <a:r>
              <a:rPr sz="1000" dirty="0">
                <a:solidFill>
                  <a:srgbClr val="444444"/>
                </a:solidFill>
              </a:rPr>
              <a:t>, </a:t>
            </a:r>
            <a:r>
              <a:rPr sz="1000" dirty="0" err="1">
                <a:solidFill>
                  <a:srgbClr val="444444"/>
                </a:solidFill>
              </a:rPr>
              <a:t>RightSidePanel</a:t>
            </a:r>
            <a:r>
              <a:rPr sz="1000" dirty="0">
                <a:solidFill>
                  <a:srgbClr val="444444"/>
                </a:solidFill>
              </a:rPr>
              <a:t> (Vis/Act/Sim), </a:t>
            </a:r>
            <a:r>
              <a:rPr sz="1000" dirty="0" err="1">
                <a:solidFill>
                  <a:srgbClr val="444444"/>
                </a:solidFill>
              </a:rPr>
              <a:t>BuildingPanel</a:t>
            </a:r>
            <a:r>
              <a:rPr sz="1000" dirty="0">
                <a:solidFill>
                  <a:srgbClr val="444444"/>
                </a:solidFill>
              </a:rPr>
              <a:t>, </a:t>
            </a:r>
            <a:r>
              <a:rPr sz="1000" dirty="0" err="1">
                <a:solidFill>
                  <a:srgbClr val="444444"/>
                </a:solidFill>
              </a:rPr>
              <a:t>CSVUploadPanel</a:t>
            </a:r>
            <a:endParaRPr lang="en-US" sz="1000" dirty="0">
              <a:solidFill>
                <a:srgbClr val="444444"/>
              </a:solidFill>
            </a:endParaRPr>
          </a:p>
          <a:p>
            <a:pPr algn="l"/>
            <a:endParaRPr sz="1000" dirty="0">
              <a:solidFill>
                <a:srgbClr val="444444"/>
              </a:solidFill>
            </a:endParaRPr>
          </a:p>
          <a:p>
            <a:pPr algn="l"/>
            <a:r>
              <a:rPr sz="1000" dirty="0">
                <a:solidFill>
                  <a:srgbClr val="444444"/>
                </a:solidFill>
              </a:rPr>
              <a:t>•   → Engine: </a:t>
            </a:r>
            <a:r>
              <a:rPr sz="1000" dirty="0" err="1">
                <a:solidFill>
                  <a:srgbClr val="444444"/>
                </a:solidFill>
              </a:rPr>
              <a:t>CrowdSimulator</a:t>
            </a:r>
            <a:r>
              <a:rPr sz="1000" dirty="0">
                <a:solidFill>
                  <a:srgbClr val="444444"/>
                </a:solidFill>
              </a:rPr>
              <a:t> (agents), </a:t>
            </a:r>
            <a:r>
              <a:rPr sz="1000" dirty="0" err="1">
                <a:solidFill>
                  <a:srgbClr val="444444"/>
                </a:solidFill>
              </a:rPr>
              <a:t>CrowdLayer</a:t>
            </a:r>
            <a:r>
              <a:rPr sz="1000" dirty="0">
                <a:solidFill>
                  <a:srgbClr val="444444"/>
                </a:solidFill>
              </a:rPr>
              <a:t> (</a:t>
            </a:r>
            <a:r>
              <a:rPr sz="1000" dirty="0" err="1">
                <a:solidFill>
                  <a:srgbClr val="444444"/>
                </a:solidFill>
              </a:rPr>
              <a:t>GeoJSON</a:t>
            </a:r>
            <a:r>
              <a:rPr sz="1000" dirty="0">
                <a:solidFill>
                  <a:srgbClr val="444444"/>
                </a:solidFill>
              </a:rPr>
              <a:t>), </a:t>
            </a:r>
            <a:r>
              <a:rPr sz="1000" dirty="0" err="1">
                <a:solidFill>
                  <a:srgbClr val="444444"/>
                </a:solidFill>
              </a:rPr>
              <a:t>NavigationGraph</a:t>
            </a:r>
            <a:r>
              <a:rPr sz="1000" dirty="0">
                <a:solidFill>
                  <a:srgbClr val="444444"/>
                </a:solidFill>
              </a:rPr>
              <a:t> (A* pathfinding), </a:t>
            </a:r>
            <a:r>
              <a:rPr sz="1000" dirty="0" err="1">
                <a:solidFill>
                  <a:srgbClr val="444444"/>
                </a:solidFill>
              </a:rPr>
              <a:t>ModelLayer</a:t>
            </a:r>
            <a:r>
              <a:rPr sz="1000" dirty="0">
                <a:solidFill>
                  <a:srgbClr val="444444"/>
                </a:solidFill>
              </a:rPr>
              <a:t> (GLTF)</a:t>
            </a:r>
            <a:endParaRPr lang="en-US" sz="1000" dirty="0">
              <a:solidFill>
                <a:srgbClr val="444444"/>
              </a:solidFill>
            </a:endParaRPr>
          </a:p>
          <a:p>
            <a:pPr algn="l"/>
            <a:endParaRPr lang="en-US" sz="1000" dirty="0">
              <a:solidFill>
                <a:srgbClr val="444444"/>
              </a:solidFill>
            </a:endParaRPr>
          </a:p>
          <a:p>
            <a:pPr algn="l"/>
            <a:r>
              <a:rPr sz="1000" b="1" dirty="0">
                <a:solidFill>
                  <a:srgbClr val="444444"/>
                </a:solidFill>
              </a:rPr>
              <a:t>BACKEND LAYER: </a:t>
            </a:r>
            <a:r>
              <a:rPr sz="1000" dirty="0">
                <a:solidFill>
                  <a:srgbClr val="444444"/>
                </a:solidFill>
              </a:rPr>
              <a:t>FastAPI (Python) — REST API server</a:t>
            </a:r>
            <a:endParaRPr lang="en-US" sz="1000" dirty="0">
              <a:solidFill>
                <a:srgbClr val="444444"/>
              </a:solidFill>
            </a:endParaRPr>
          </a:p>
          <a:p>
            <a:pPr algn="l"/>
            <a:endParaRPr sz="1000" dirty="0">
              <a:solidFill>
                <a:srgbClr val="444444"/>
              </a:solidFill>
            </a:endParaRPr>
          </a:p>
          <a:p>
            <a:pPr algn="l"/>
            <a:r>
              <a:rPr sz="1000" dirty="0">
                <a:solidFill>
                  <a:srgbClr val="444444"/>
                </a:solidFill>
              </a:rPr>
              <a:t>•   → IoT Ingestion: /camera-feed, /building-occupancy (real-time sensor data)</a:t>
            </a:r>
          </a:p>
          <a:p>
            <a:pPr algn="l"/>
            <a:r>
              <a:rPr sz="1000" dirty="0">
                <a:solidFill>
                  <a:srgbClr val="444444"/>
                </a:solidFill>
              </a:rPr>
              <a:t>•   → AI Engine: Gemini / OpenAI GPT — building suggestions, actuation planning</a:t>
            </a:r>
          </a:p>
          <a:p>
            <a:pPr algn="l"/>
            <a:r>
              <a:rPr sz="1000" dirty="0">
                <a:solidFill>
                  <a:srgbClr val="444444"/>
                </a:solidFill>
              </a:rPr>
              <a:t>•   → Actuation: </a:t>
            </a:r>
            <a:r>
              <a:rPr sz="1000" dirty="0" err="1">
                <a:solidFill>
                  <a:srgbClr val="444444"/>
                </a:solidFill>
              </a:rPr>
              <a:t>LangGraph</a:t>
            </a:r>
            <a:r>
              <a:rPr sz="1000" dirty="0">
                <a:solidFill>
                  <a:srgbClr val="444444"/>
                </a:solidFill>
              </a:rPr>
              <a:t>-style decision graph (Context → Control → Agent → Finalize)</a:t>
            </a:r>
          </a:p>
          <a:p>
            <a:pPr algn="l"/>
            <a:r>
              <a:rPr sz="1000" dirty="0">
                <a:solidFill>
                  <a:srgbClr val="444444"/>
                </a:solidFill>
              </a:rPr>
              <a:t>•   → Data: CSV schedule parser, congestion analysis, road control management</a:t>
            </a:r>
            <a:endParaRPr lang="en-US" sz="1000" dirty="0">
              <a:solidFill>
                <a:srgbClr val="444444"/>
              </a:solidFill>
            </a:endParaRPr>
          </a:p>
          <a:p>
            <a:pPr algn="l"/>
            <a:endParaRPr sz="1000" dirty="0">
              <a:solidFill>
                <a:srgbClr val="444444"/>
              </a:solidFill>
            </a:endParaRPr>
          </a:p>
          <a:p>
            <a:pPr algn="l"/>
            <a:r>
              <a:rPr sz="1000" b="1" dirty="0">
                <a:solidFill>
                  <a:srgbClr val="444444"/>
                </a:solidFill>
              </a:rPr>
              <a:t>IoT SENSOR LAYER: </a:t>
            </a:r>
            <a:r>
              <a:rPr sz="1000" dirty="0">
                <a:solidFill>
                  <a:srgbClr val="444444"/>
                </a:solidFill>
              </a:rPr>
              <a:t>Cameras (8+ nodes), Occupancy Sensors (30+ buildings), Road Monitors (15+ pathways)</a:t>
            </a:r>
            <a:endParaRPr lang="en-US" sz="1000" dirty="0">
              <a:solidFill>
                <a:srgbClr val="444444"/>
              </a:solidFill>
            </a:endParaRPr>
          </a:p>
          <a:p>
            <a:pPr algn="l"/>
            <a:endParaRPr sz="1000" dirty="0">
              <a:solidFill>
                <a:srgbClr val="444444"/>
              </a:solidFill>
            </a:endParaRPr>
          </a:p>
          <a:p>
            <a:pPr algn="l"/>
            <a:r>
              <a:rPr sz="1000" dirty="0">
                <a:solidFill>
                  <a:srgbClr val="444444"/>
                </a:solidFill>
              </a:rPr>
              <a:t>•   → Protocol: REST API (JSON), Real-time push (1-10s intervals)</a:t>
            </a: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5D633B-CFDE-1685-209D-AEA2A1236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172" y="612141"/>
            <a:ext cx="2991680" cy="44875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311699" y="1249775"/>
            <a:ext cx="4061517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algn="l"/>
            <a:r>
              <a:rPr sz="1200" dirty="0">
                <a:solidFill>
                  <a:srgbClr val="444444"/>
                </a:solidFill>
              </a:rPr>
              <a:t>• FRONTEND: React 18, Vite 5, </a:t>
            </a:r>
            <a:r>
              <a:rPr sz="1200" dirty="0" err="1">
                <a:solidFill>
                  <a:srgbClr val="444444"/>
                </a:solidFill>
              </a:rPr>
              <a:t>MapLibre</a:t>
            </a:r>
            <a:r>
              <a:rPr sz="1200" dirty="0">
                <a:solidFill>
                  <a:srgbClr val="444444"/>
                </a:solidFill>
              </a:rPr>
              <a:t> GL JS 4.x, GLTF/GLB 3D Models</a:t>
            </a:r>
          </a:p>
          <a:p>
            <a:pPr algn="l"/>
            <a:r>
              <a:rPr sz="1200" dirty="0">
                <a:solidFill>
                  <a:srgbClr val="444444"/>
                </a:solidFill>
              </a:rPr>
              <a:t>• BACKEND: FastAPI (Python 3.10+), </a:t>
            </a:r>
            <a:r>
              <a:rPr sz="1200" dirty="0" err="1">
                <a:solidFill>
                  <a:srgbClr val="444444"/>
                </a:solidFill>
              </a:rPr>
              <a:t>Pydantic</a:t>
            </a:r>
            <a:r>
              <a:rPr sz="1200" dirty="0">
                <a:solidFill>
                  <a:srgbClr val="444444"/>
                </a:solidFill>
              </a:rPr>
              <a:t>, </a:t>
            </a:r>
            <a:r>
              <a:rPr sz="1200" dirty="0" err="1">
                <a:solidFill>
                  <a:srgbClr val="444444"/>
                </a:solidFill>
              </a:rPr>
              <a:t>Uvicorn</a:t>
            </a:r>
            <a:endParaRPr sz="1200" dirty="0">
              <a:solidFill>
                <a:srgbClr val="444444"/>
              </a:solidFill>
            </a:endParaRPr>
          </a:p>
          <a:p>
            <a:pPr algn="l"/>
            <a:r>
              <a:rPr sz="1200" dirty="0">
                <a:solidFill>
                  <a:srgbClr val="444444"/>
                </a:solidFill>
              </a:rPr>
              <a:t>• AI/ML: Google Gemini API, OpenAI GPT API, </a:t>
            </a:r>
            <a:r>
              <a:rPr sz="1200" dirty="0" err="1">
                <a:solidFill>
                  <a:srgbClr val="444444"/>
                </a:solidFill>
              </a:rPr>
              <a:t>LangGraph</a:t>
            </a:r>
            <a:r>
              <a:rPr sz="1200" dirty="0">
                <a:solidFill>
                  <a:srgbClr val="444444"/>
                </a:solidFill>
              </a:rPr>
              <a:t>-style decision pipeline</a:t>
            </a:r>
          </a:p>
          <a:p>
            <a:pPr algn="l"/>
            <a:r>
              <a:rPr sz="1200" dirty="0">
                <a:solidFill>
                  <a:srgbClr val="444444"/>
                </a:solidFill>
              </a:rPr>
              <a:t>• 3D ENGINE: </a:t>
            </a:r>
            <a:r>
              <a:rPr sz="1200" dirty="0" err="1">
                <a:solidFill>
                  <a:srgbClr val="444444"/>
                </a:solidFill>
              </a:rPr>
              <a:t>MapLibre</a:t>
            </a:r>
            <a:r>
              <a:rPr sz="1200" dirty="0">
                <a:solidFill>
                  <a:srgbClr val="444444"/>
                </a:solidFill>
              </a:rPr>
              <a:t> GL JS with custom WebGL layers, A* pathfinding, </a:t>
            </a:r>
            <a:r>
              <a:rPr sz="1200" dirty="0" err="1">
                <a:solidFill>
                  <a:srgbClr val="444444"/>
                </a:solidFill>
              </a:rPr>
              <a:t>GeoJSON</a:t>
            </a:r>
            <a:r>
              <a:rPr sz="1200" dirty="0">
                <a:solidFill>
                  <a:srgbClr val="444444"/>
                </a:solidFill>
              </a:rPr>
              <a:t> rendering</a:t>
            </a:r>
          </a:p>
          <a:p>
            <a:pPr algn="l"/>
            <a:r>
              <a:rPr sz="1200" dirty="0">
                <a:solidFill>
                  <a:srgbClr val="444444"/>
                </a:solidFill>
              </a:rPr>
              <a:t>• IoT PROTOCOLS: REST API (JSON), Real-time sensor data ingestion</a:t>
            </a:r>
          </a:p>
          <a:p>
            <a:pPr algn="l"/>
            <a:r>
              <a:rPr sz="1200" dirty="0">
                <a:solidFill>
                  <a:srgbClr val="444444"/>
                </a:solidFill>
              </a:rPr>
              <a:t>• DATA FORMATS: </a:t>
            </a:r>
            <a:r>
              <a:rPr sz="1200" dirty="0" err="1">
                <a:solidFill>
                  <a:srgbClr val="444444"/>
                </a:solidFill>
              </a:rPr>
              <a:t>GeoJSON</a:t>
            </a:r>
            <a:r>
              <a:rPr sz="1200" dirty="0">
                <a:solidFill>
                  <a:srgbClr val="444444"/>
                </a:solidFill>
              </a:rPr>
              <a:t> (spatial), CSV (schedules), JSON (API communication)</a:t>
            </a:r>
          </a:p>
          <a:p>
            <a:pPr algn="l"/>
            <a:r>
              <a:rPr sz="1200" dirty="0">
                <a:solidFill>
                  <a:srgbClr val="444444"/>
                </a:solidFill>
              </a:rPr>
              <a:t>• MAPPING: OpenStreetMap data, OSM building footprints, campus pathways</a:t>
            </a:r>
          </a:p>
          <a:p>
            <a:pPr algn="l"/>
            <a:r>
              <a:rPr sz="1200" dirty="0">
                <a:solidFill>
                  <a:srgbClr val="444444"/>
                </a:solidFill>
              </a:rPr>
              <a:t>• DEPLOYMENT: Node.js 18+, Python 3.10+, Vite dev server + </a:t>
            </a:r>
            <a:r>
              <a:rPr sz="1200" dirty="0" err="1">
                <a:solidFill>
                  <a:srgbClr val="444444"/>
                </a:solidFill>
              </a:rPr>
              <a:t>Uvicorn</a:t>
            </a:r>
            <a:endParaRPr sz="1200" dirty="0">
              <a:solidFill>
                <a:srgbClr val="444444"/>
              </a:solidFill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70CDAA-E441-4488-D9EA-75059E6A9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547" y="1249775"/>
            <a:ext cx="4513608" cy="3009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Usage of AMD Products/Solutions(Proposed)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Poppins"/>
              <a:ea typeface="Poppins"/>
              <a:cs typeface="Poppins"/>
              <a:sym typeface="Poppins"/>
            </a:endParaRPr>
          </a:p>
          <a:p>
            <a:pPr algn="l"/>
            <a:r>
              <a:rPr sz="1400" dirty="0">
                <a:solidFill>
                  <a:srgbClr val="444444"/>
                </a:solidFill>
              </a:rPr>
              <a:t>• AMD GPU Acceleration: WebGL-powered 3D rendering of 1200+ agents in real-time on </a:t>
            </a:r>
            <a:r>
              <a:rPr sz="1400" dirty="0" err="1">
                <a:solidFill>
                  <a:srgbClr val="444444"/>
                </a:solidFill>
              </a:rPr>
              <a:t>MapLibre</a:t>
            </a:r>
            <a:r>
              <a:rPr sz="1400" dirty="0">
                <a:solidFill>
                  <a:srgbClr val="444444"/>
                </a:solidFill>
              </a:rPr>
              <a:t> GL</a:t>
            </a:r>
          </a:p>
          <a:p>
            <a:pPr algn="l"/>
            <a:r>
              <a:rPr sz="1400" dirty="0">
                <a:solidFill>
                  <a:srgbClr val="444444"/>
                </a:solidFill>
              </a:rPr>
              <a:t>• AMD Ryzen Processors: Backend AI inference and congestion analysis runs efficiently on AMD hardware</a:t>
            </a:r>
          </a:p>
          <a:p>
            <a:pPr algn="l"/>
            <a:r>
              <a:rPr sz="1400" dirty="0">
                <a:solidFill>
                  <a:srgbClr val="444444"/>
                </a:solidFill>
              </a:rPr>
              <a:t>• AMD Instinct (Future): Scale AI decision pipeline to handle campus-wide sensor data in real-time</a:t>
            </a:r>
          </a:p>
          <a:p>
            <a:pPr algn="l"/>
            <a:r>
              <a:rPr sz="1400" dirty="0">
                <a:solidFill>
                  <a:srgbClr val="444444"/>
                </a:solidFill>
              </a:rPr>
              <a:t>• AMD </a:t>
            </a:r>
            <a:r>
              <a:rPr sz="1400" dirty="0" err="1">
                <a:solidFill>
                  <a:srgbClr val="444444"/>
                </a:solidFill>
              </a:rPr>
              <a:t>ROCm</a:t>
            </a:r>
            <a:r>
              <a:rPr sz="1400" dirty="0">
                <a:solidFill>
                  <a:srgbClr val="444444"/>
                </a:solidFill>
              </a:rPr>
              <a:t> (Future): Optimize crowd prediction models using AMD's open-source ML framework</a:t>
            </a:r>
          </a:p>
          <a:p>
            <a:pPr algn="l"/>
            <a:r>
              <a:rPr sz="1400" dirty="0">
                <a:solidFill>
                  <a:srgbClr val="444444"/>
                </a:solidFill>
              </a:rPr>
              <a:t>• AMD Embedded (IoT): IoT edge processing on AMD Xilinx FPGAs for camera-based people counting</a:t>
            </a:r>
          </a:p>
          <a:p>
            <a:pPr algn="l"/>
            <a:r>
              <a:rPr sz="1400" dirty="0">
                <a:solidFill>
                  <a:srgbClr val="444444"/>
                </a:solidFill>
              </a:rPr>
              <a:t>• Performance: Smooth 60fps 3D rendering with 1000+ animated agents on AMD Radeon GPUs</a:t>
            </a: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Estimated implementation cost (TBD)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Poppins"/>
              <a:ea typeface="Poppins"/>
              <a:cs typeface="Poppins"/>
              <a:sym typeface="Poppins"/>
            </a:endParaRPr>
          </a:p>
          <a:p>
            <a:pPr algn="l"/>
            <a:r>
              <a:rPr sz="1600" dirty="0">
                <a:solidFill>
                  <a:srgbClr val="444444"/>
                </a:solidFill>
              </a:rPr>
              <a:t>• IoT Cameras</a:t>
            </a:r>
            <a:r>
              <a:rPr lang="en-US" sz="1600" dirty="0">
                <a:solidFill>
                  <a:srgbClr val="444444"/>
                </a:solidFill>
              </a:rPr>
              <a:t>,</a:t>
            </a:r>
            <a:r>
              <a:rPr sz="1600" dirty="0">
                <a:solidFill>
                  <a:srgbClr val="444444"/>
                </a:solidFill>
              </a:rPr>
              <a:t> Occupancy Sensors</a:t>
            </a:r>
            <a:r>
              <a:rPr lang="en-US" sz="1600" dirty="0">
                <a:solidFill>
                  <a:srgbClr val="444444"/>
                </a:solidFill>
              </a:rPr>
              <a:t>,</a:t>
            </a:r>
            <a:endParaRPr sz="1600" dirty="0">
              <a:solidFill>
                <a:srgbClr val="444444"/>
              </a:solidFill>
            </a:endParaRPr>
          </a:p>
          <a:p>
            <a:pPr algn="l"/>
            <a:r>
              <a:rPr sz="1600" dirty="0">
                <a:solidFill>
                  <a:srgbClr val="444444"/>
                </a:solidFill>
              </a:rPr>
              <a:t>• Edge Computing Hardware (AMD Xilinx FPGAs</a:t>
            </a:r>
            <a:r>
              <a:rPr lang="en-US" sz="1600" dirty="0">
                <a:solidFill>
                  <a:srgbClr val="444444"/>
                </a:solidFill>
              </a:rPr>
              <a:t>)</a:t>
            </a:r>
            <a:endParaRPr sz="1600" dirty="0">
              <a:solidFill>
                <a:srgbClr val="444444"/>
              </a:solidFill>
            </a:endParaRPr>
          </a:p>
          <a:p>
            <a:pPr algn="l"/>
            <a:r>
              <a:rPr sz="1600" dirty="0">
                <a:solidFill>
                  <a:srgbClr val="444444"/>
                </a:solidFill>
              </a:rPr>
              <a:t>• Cloud Server (FastAPI + AI APIs</a:t>
            </a:r>
            <a:r>
              <a:rPr lang="en-US" sz="1600" dirty="0">
                <a:solidFill>
                  <a:srgbClr val="444444"/>
                </a:solidFill>
              </a:rPr>
              <a:t>)</a:t>
            </a:r>
          </a:p>
          <a:p>
            <a:pPr algn="l"/>
            <a:r>
              <a:rPr sz="1600" dirty="0">
                <a:solidFill>
                  <a:srgbClr val="444444"/>
                </a:solidFill>
              </a:rPr>
              <a:t>• AI API Costs (Gemini/GPT</a:t>
            </a:r>
          </a:p>
          <a:p>
            <a:pPr algn="l"/>
            <a:r>
              <a:rPr sz="1600" dirty="0">
                <a:solidFill>
                  <a:srgbClr val="444444"/>
                </a:solidFill>
              </a:rPr>
              <a:t>• Development &amp; Maintenance: Open Source </a:t>
            </a:r>
            <a:endParaRPr lang="en-US" sz="1600" dirty="0">
              <a:solidFill>
                <a:srgbClr val="444444"/>
              </a:solidFill>
            </a:endParaRPr>
          </a:p>
          <a:p>
            <a:pPr algn="l"/>
            <a:endParaRPr lang="en-US" sz="1600" dirty="0">
              <a:solidFill>
                <a:srgbClr val="444444"/>
              </a:solidFill>
            </a:endParaRPr>
          </a:p>
          <a:p>
            <a:pPr algn="l"/>
            <a:r>
              <a:rPr lang="en-US" sz="1600" b="1" dirty="0">
                <a:solidFill>
                  <a:srgbClr val="444444"/>
                </a:solidFill>
              </a:rPr>
              <a:t>Currently using free tier deployments, if support given services/compute from AMD can be used to deploy with in the Smart City Living Lab –IIITH Campus</a:t>
            </a:r>
          </a:p>
          <a:p>
            <a:pPr algn="l"/>
            <a:endParaRPr lang="en-US" sz="1600" dirty="0">
              <a:solidFill>
                <a:srgbClr val="444444"/>
              </a:solidFill>
            </a:endParaRPr>
          </a:p>
          <a:p>
            <a:pPr algn="l"/>
            <a:endParaRPr lang="en-IN" sz="1600" dirty="0">
              <a:solidFill>
                <a:srgbClr val="444444"/>
              </a:solidFill>
            </a:endParaRPr>
          </a:p>
          <a:p>
            <a:pPr algn="l"/>
            <a:r>
              <a:rPr lang="en-IN" sz="1600" dirty="0">
                <a:solidFill>
                  <a:srgbClr val="444444"/>
                </a:solidFill>
              </a:rPr>
              <a:t>      </a:t>
            </a:r>
          </a:p>
          <a:p>
            <a:pPr algn="l"/>
            <a:endParaRPr lang="en-IN" sz="1600" dirty="0">
              <a:solidFill>
                <a:srgbClr val="444444"/>
              </a:solidFill>
            </a:endParaRPr>
          </a:p>
          <a:p>
            <a:pPr algn="l"/>
            <a:endParaRPr lang="en-IN" sz="1600" dirty="0">
              <a:solidFill>
                <a:srgbClr val="444444"/>
              </a:solidFill>
            </a:endParaRPr>
          </a:p>
          <a:p>
            <a:pPr algn="l"/>
            <a:endParaRPr lang="en-IN" sz="1600" dirty="0">
              <a:solidFill>
                <a:srgbClr val="444444"/>
              </a:solidFill>
            </a:endParaRPr>
          </a:p>
          <a:p>
            <a:pPr algn="l"/>
            <a:endParaRPr lang="en-IN" sz="1600" dirty="0">
              <a:solidFill>
                <a:srgbClr val="444444"/>
              </a:solidFill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Prototype Assets (V1)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191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</a:p>
          <a:p>
            <a:pPr marL="13970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dirty="0">
                <a:hlinkClick r:id="rId3"/>
              </a:rPr>
              <a:t>https://github.com/likhithkanigolla/CrowdTwin</a:t>
            </a:r>
            <a:endParaRPr lang="en-US" dirty="0"/>
          </a:p>
          <a:p>
            <a:pPr marL="45720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endParaRPr lang="en-GB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IN" dirty="0">
                <a:hlinkClick r:id="rId4"/>
              </a:rPr>
              <a:t>https://drive.google.com/drive/folders/14enyEwmFWi9_9jwwZTjx1caFQ9Bj-fJf?usp=sharing</a:t>
            </a:r>
            <a:endParaRPr lang="en-IN" dirty="0"/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endParaRPr dirty="0"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5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6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subTitle" idx="1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dirty="0">
                <a:solidFill>
                  <a:srgbClr val="333333"/>
                </a:solidFill>
                <a:latin typeface="+mj-lt"/>
              </a:rPr>
              <a:t>IoT Sensor Deployment Plan</a:t>
            </a:r>
            <a:r>
              <a:rPr lang="en-US" sz="1400" b="1" dirty="0">
                <a:solidFill>
                  <a:srgbClr val="333333"/>
                </a:solidFill>
                <a:latin typeface="+mj-lt"/>
              </a:rPr>
              <a:t>(at Smart City Living Lab)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+mj-lt"/>
              <a:ea typeface="Poppins"/>
              <a:cs typeface="Poppins"/>
              <a:sym typeface="Poppins"/>
            </a:endParaRP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Camera Nodes (8+): Deployed at all building entrances and main road intersections</a:t>
            </a: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   → Data: People count, direction (in/out), GPS coordinates, timestamps</a:t>
            </a: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   </a:t>
            </a:r>
            <a:r>
              <a:rPr lang="en-IN" sz="1400" dirty="0">
                <a:solidFill>
                  <a:srgbClr val="444444"/>
                </a:solidFill>
                <a:latin typeface="+mj-lt"/>
              </a:rPr>
              <a:t>→</a:t>
            </a:r>
            <a:r>
              <a:rPr sz="1400" dirty="0">
                <a:solidFill>
                  <a:srgbClr val="444444"/>
                </a:solidFill>
                <a:latin typeface="+mj-lt"/>
              </a:rPr>
              <a:t> Frequency: Real-time (1-5 second intervals)</a:t>
            </a:r>
          </a:p>
          <a:p>
            <a:pPr algn="l"/>
            <a:endParaRPr sz="1400" dirty="0">
              <a:solidFill>
                <a:srgbClr val="444444"/>
              </a:solidFill>
              <a:latin typeface="+mj-lt"/>
            </a:endParaRP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Building Occupancy Sensors (30+): Installed in all classified buildings</a:t>
            </a: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   → Data: Current occupancy, capacity, last update timestamp</a:t>
            </a: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   → Categories: Hostels, Academics, Canteens, Recreation, Admin, Gates</a:t>
            </a:r>
          </a:p>
          <a:p>
            <a:pPr algn="l"/>
            <a:endParaRPr sz="1400" dirty="0">
              <a:solidFill>
                <a:srgbClr val="444444"/>
              </a:solidFill>
              <a:latin typeface="+mj-lt"/>
            </a:endParaRP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Road Monitors (1</a:t>
            </a:r>
            <a:r>
              <a:rPr lang="en-US" sz="1400" dirty="0">
                <a:solidFill>
                  <a:srgbClr val="444444"/>
                </a:solidFill>
                <a:latin typeface="+mj-lt"/>
              </a:rPr>
              <a:t>0</a:t>
            </a:r>
            <a:r>
              <a:rPr sz="1400" dirty="0">
                <a:solidFill>
                  <a:srgbClr val="444444"/>
                </a:solidFill>
                <a:latin typeface="+mj-lt"/>
              </a:rPr>
              <a:t>+): Placed along campus pathways</a:t>
            </a: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   → Data: Traffic flow, congestion level, road status</a:t>
            </a: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   → Control: Open / Soft Close / Hard Close via REST API</a:t>
            </a:r>
          </a:p>
          <a:p>
            <a:pPr algn="l"/>
            <a:endParaRPr sz="1400" dirty="0">
              <a:solidFill>
                <a:srgbClr val="444444"/>
              </a:solidFill>
              <a:latin typeface="+mj-lt"/>
            </a:endParaRPr>
          </a:p>
          <a:p>
            <a:pPr algn="l"/>
            <a:r>
              <a:rPr sz="1400" dirty="0">
                <a:solidFill>
                  <a:srgbClr val="444444"/>
                </a:solidFill>
                <a:latin typeface="+mj-lt"/>
              </a:rPr>
              <a:t>• Environmental Sensors (Future): Temperature, humidity, air quality in high-density zones</a:t>
            </a:r>
          </a:p>
        </p:txBody>
      </p:sp>
      <p:sp>
        <p:nvSpPr>
          <p:cNvPr id="146" name="Google Shape;146;p2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Real Time Validation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1176</Words>
  <Application>Microsoft Macintosh PowerPoint</Application>
  <PresentationFormat>On-screen Show (16:9)</PresentationFormat>
  <Paragraphs>113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Poppins</vt:lpstr>
      <vt:lpstr>Simple Light</vt:lpstr>
      <vt:lpstr>PowerPoint Presentation</vt:lpstr>
      <vt:lpstr>Brief about the idea</vt:lpstr>
      <vt:lpstr>Opportunities</vt:lpstr>
      <vt:lpstr>List of features offered by the solution</vt:lpstr>
      <vt:lpstr>Process flow diagram or Use-case diagram</vt:lpstr>
      <vt:lpstr>Wireframes/Mock diagrams of the proposed solution</vt:lpstr>
      <vt:lpstr>Architecture diagram of the proposed solution</vt:lpstr>
      <vt:lpstr>Technologies to be used in the solution</vt:lpstr>
      <vt:lpstr>Usage of AMD Products/Solutions(Proposed)</vt:lpstr>
      <vt:lpstr>Estimated implementation cost (TBD)</vt:lpstr>
      <vt:lpstr>Prototype Assets (V1)</vt:lpstr>
      <vt:lpstr>Real Time Validation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Balalikhith Kanigolla</cp:lastModifiedBy>
  <cp:revision>3</cp:revision>
  <dcterms:modified xsi:type="dcterms:W3CDTF">2026-03-01T11:37:38Z</dcterms:modified>
</cp:coreProperties>
</file>