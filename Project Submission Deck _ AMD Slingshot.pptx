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70" r:id="rId14"/>
  </p:sldIdLst>
  <p:sldSz cx="9144000" cy="5143500" type="screen16x9"/>
  <p:notesSz cx="6858000" cy="9144000"/>
  <p:embeddedFontLst>
    <p:embeddedFont>
      <p:font typeface="Poppins" pitchFamily="2" charset="77"/>
      <p:regular r:id="rId16"/>
      <p:bold r:id="rId17"/>
      <p:italic r:id="rId18"/>
      <p:boldItalic r:id="rId19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031"/>
    <p:restoredTop sz="94729"/>
  </p:normalViewPr>
  <p:slideViewPr>
    <p:cSldViewPr snapToGrid="0">
      <p:cViewPr varScale="1">
        <p:scale>
          <a:sx n="119" d="100"/>
          <a:sy n="119" d="100"/>
        </p:scale>
        <p:origin x="200" y="57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3.fntdata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2.fntdata"/><Relationship Id="rId2" Type="http://schemas.openxmlformats.org/officeDocument/2006/relationships/slide" Target="slides/slide1.xml"/><Relationship Id="rId16" Type="http://schemas.openxmlformats.org/officeDocument/2006/relationships/font" Target="fonts/font1.fntdata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4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g37fa3dcd40f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" name="Google Shape;61;g37fa3dcd40f_0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g37fa3dcd40f_0_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" name="Google Shape;69;g37fa3dcd40f_0_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g37fa3dcd40f_0_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" name="Google Shape;78;g37fa3dcd40f_0_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g37fa3dcd40f_0_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6" name="Google Shape;86;g37fa3dcd40f_0_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g37fa3dcd40f_0_4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" name="Google Shape;94;g37fa3dcd40f_0_4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37fa3dcd40f_0_5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37fa3dcd40f_0_5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g37fa3dcd40f_0_5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0" name="Google Shape;110;g37fa3dcd40f_0_5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g37fa3dcd40f_0_6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8" name="Google Shape;118;g37fa3dcd40f_0_6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7fa3dcd40f_0_6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7fa3dcd40f_0_6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g37fa3dcd40f_0_7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4" name="Google Shape;134;g37fa3dcd40f_0_7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g37fa3dcd40f_0_8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3" name="Google Shape;143;g37fa3dcd40f_0_8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g37fa3dcd40f_0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3" name="Google Shape;163;g37fa3dcd40f_0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.png"/><Relationship Id="rId4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13" Type="http://schemas.openxmlformats.org/officeDocument/2006/relationships/image" Target="../media/image16.png"/><Relationship Id="rId3" Type="http://schemas.openxmlformats.org/officeDocument/2006/relationships/image" Target="../media/image2.png"/><Relationship Id="rId7" Type="http://schemas.openxmlformats.org/officeDocument/2006/relationships/image" Target="../media/image10.png"/><Relationship Id="rId12" Type="http://schemas.openxmlformats.org/officeDocument/2006/relationships/image" Target="../media/image1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11" Type="http://schemas.openxmlformats.org/officeDocument/2006/relationships/image" Target="../media/image14.png"/><Relationship Id="rId5" Type="http://schemas.openxmlformats.org/officeDocument/2006/relationships/image" Target="../media/image8.png"/><Relationship Id="rId10" Type="http://schemas.openxmlformats.org/officeDocument/2006/relationships/image" Target="../media/image13.png"/><Relationship Id="rId4" Type="http://schemas.openxmlformats.org/officeDocument/2006/relationships/image" Target="../media/image1.png"/><Relationship Id="rId9" Type="http://schemas.openxmlformats.org/officeDocument/2006/relationships/image" Target="../media/image12.png"/><Relationship Id="rId14" Type="http://schemas.openxmlformats.org/officeDocument/2006/relationships/image" Target="../media/image1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8.png"/><Relationship Id="rId4" Type="http://schemas.openxmlformats.org/officeDocument/2006/relationships/image" Target="../media/image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9.png"/><Relationship Id="rId4" Type="http://schemas.openxmlformats.org/officeDocument/2006/relationships/image" Target="../media/image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56" name="Google Shape;56;p13" title="AMD.PS.S11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57" name="Google Shape;57;p13"/>
          <p:cNvSpPr txBox="1"/>
          <p:nvPr/>
        </p:nvSpPr>
        <p:spPr>
          <a:xfrm>
            <a:off x="179825" y="3316325"/>
            <a:ext cx="30000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800" b="1">
                <a:solidFill>
                  <a:srgbClr val="FFFFFF"/>
                </a:solidFill>
              </a:rPr>
              <a:t>Team Details</a:t>
            </a:r>
            <a:endParaRPr sz="180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8" name="Google Shape;58;p13"/>
          <p:cNvSpPr txBox="1"/>
          <p:nvPr/>
        </p:nvSpPr>
        <p:spPr>
          <a:xfrm>
            <a:off x="0" y="3316325"/>
            <a:ext cx="8964175" cy="16004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Char char="➔"/>
            </a:pPr>
            <a:r>
              <a:rPr lang="en-IN" sz="1600" dirty="0">
                <a:solidFill>
                  <a:schemeClr val="tx1"/>
                </a:solidFill>
              </a:rPr>
              <a:t>Team name — </a:t>
            </a:r>
            <a:r>
              <a:rPr lang="en-IN" sz="1600" b="1" dirty="0">
                <a:solidFill>
                  <a:schemeClr val="tx1"/>
                </a:solidFill>
              </a:rPr>
              <a:t>Nexus for AMD</a:t>
            </a:r>
            <a:endParaRPr lang="en-IN" b="1" dirty="0">
              <a:solidFill>
                <a:schemeClr val="tx1"/>
              </a:solidFill>
              <a:latin typeface="Poppins"/>
              <a:cs typeface="Poppins"/>
              <a:sym typeface="Poppins"/>
            </a:endParaRPr>
          </a:p>
          <a:p>
            <a:pPr marL="45720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Char char="➔"/>
            </a:pPr>
            <a:r>
              <a:rPr lang="en-IN" sz="1600" dirty="0">
                <a:solidFill>
                  <a:schemeClr val="tx1"/>
                </a:solidFill>
              </a:rPr>
              <a:t>Team leader name — </a:t>
            </a:r>
            <a:r>
              <a:rPr lang="en-IN" sz="1600" b="1" dirty="0">
                <a:solidFill>
                  <a:schemeClr val="tx1"/>
                </a:solidFill>
              </a:rPr>
              <a:t>Likhith Kanigolla</a:t>
            </a:r>
          </a:p>
          <a:p>
            <a:pPr marL="457200" indent="-317500">
              <a:lnSpc>
                <a:spcPct val="115000"/>
              </a:lnSpc>
              <a:buClr>
                <a:schemeClr val="dk1"/>
              </a:buClr>
              <a:buSzPts val="1400"/>
              <a:buFont typeface="Poppins"/>
              <a:buChar char="➔"/>
            </a:pPr>
            <a:r>
              <a:rPr lang="en-IN" sz="1600" dirty="0">
                <a:solidFill>
                  <a:schemeClr val="tx1"/>
                </a:solidFill>
              </a:rPr>
              <a:t>Problem Statement — </a:t>
            </a:r>
            <a:r>
              <a:rPr lang="en-IN" sz="1600" b="1" dirty="0">
                <a:solidFill>
                  <a:schemeClr val="tx1"/>
                </a:solidFill>
              </a:rPr>
              <a:t>AI for Smart Cities</a:t>
            </a:r>
          </a:p>
          <a:p>
            <a:pPr marL="457200" indent="-317500">
              <a:lnSpc>
                <a:spcPct val="115000"/>
              </a:lnSpc>
              <a:buClr>
                <a:schemeClr val="dk1"/>
              </a:buClr>
              <a:buSzPts val="1400"/>
              <a:buFont typeface="Poppins"/>
              <a:buChar char="➔"/>
            </a:pPr>
            <a:r>
              <a:rPr lang="en-IN" sz="1600" dirty="0">
                <a:solidFill>
                  <a:schemeClr val="tx1"/>
                </a:solidFill>
              </a:rPr>
              <a:t>Proposed Solution — </a:t>
            </a:r>
            <a:r>
              <a:rPr lang="en-IN" sz="1600" dirty="0"/>
              <a:t>Smart Campus Crowd Management using Digital Twin &amp; IoT Sensors</a:t>
            </a:r>
            <a:endParaRPr lang="en-IN" sz="1600" dirty="0">
              <a:solidFill>
                <a:schemeClr val="tx1"/>
              </a:solidFill>
            </a:endParaRPr>
          </a:p>
          <a:p>
            <a:pPr marL="457200" indent="-317500">
              <a:lnSpc>
                <a:spcPct val="115000"/>
              </a:lnSpc>
              <a:buClr>
                <a:schemeClr val="dk1"/>
              </a:buClr>
              <a:buSzPts val="1400"/>
              <a:buFont typeface="Poppins"/>
              <a:buChar char="➔"/>
            </a:pPr>
            <a:endParaRPr lang="en-IN" sz="1600" b="1" dirty="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4"/>
          <p:cNvSpPr txBox="1">
            <a:spLocks noGrp="1"/>
          </p:cNvSpPr>
          <p:nvPr>
            <p:ph type="ctrTitle"/>
          </p:nvPr>
        </p:nvSpPr>
        <p:spPr>
          <a:xfrm>
            <a:off x="311700" y="744575"/>
            <a:ext cx="8520600" cy="447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-GB" sz="1620" b="1">
                <a:latin typeface="Poppins"/>
                <a:ea typeface="Poppins"/>
                <a:cs typeface="Poppins"/>
                <a:sym typeface="Poppins"/>
              </a:rPr>
              <a:t>Brief about the idea</a:t>
            </a:r>
            <a:endParaRPr sz="1620" b="1">
              <a:latin typeface="Poppins"/>
              <a:ea typeface="Poppins"/>
              <a:cs typeface="Poppins"/>
              <a:sym typeface="Poppins"/>
            </a:endParaRPr>
          </a:p>
        </p:txBody>
      </p:sp>
      <p:pic>
        <p:nvPicPr>
          <p:cNvPr id="65" name="Google Shape;65;p14" title="AMD.PS.S22.png"/>
          <p:cNvPicPr preferRelativeResize="0"/>
          <p:nvPr/>
        </p:nvPicPr>
        <p:blipFill rotWithShape="1">
          <a:blip r:embed="rId3">
            <a:alphaModFix/>
          </a:blip>
          <a:srcRect b="89082"/>
          <a:stretch/>
        </p:blipFill>
        <p:spPr>
          <a:xfrm>
            <a:off x="0" y="0"/>
            <a:ext cx="9144000" cy="561524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D442DAB-4E1E-AA59-0A8D-4B60ED48B1F4}"/>
              </a:ext>
            </a:extLst>
          </p:cNvPr>
          <p:cNvSpPr txBox="1"/>
          <p:nvPr/>
        </p:nvSpPr>
        <p:spPr>
          <a:xfrm>
            <a:off x="119268" y="1053945"/>
            <a:ext cx="4750905" cy="37548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l" rtl="0">
              <a:spcBef>
                <a:spcPts val="0"/>
              </a:spcBef>
              <a:spcAft>
                <a:spcPts val="0"/>
              </a:spcAft>
            </a:pPr>
            <a:endParaRPr lang="en-IN" sz="1400" dirty="0">
              <a:solidFill>
                <a:schemeClr val="tx1"/>
              </a:solidFill>
              <a:latin typeface="+mn-lt"/>
              <a:ea typeface="Poppins"/>
              <a:cs typeface="Poppins"/>
              <a:sym typeface="Poppins"/>
            </a:endParaRPr>
          </a:p>
          <a:p>
            <a:pPr marL="285750" indent="-171450" algn="l">
              <a:buFont typeface="Arial" panose="020B0604020202020204" pitchFamily="34" charset="0"/>
              <a:buChar char="•"/>
            </a:pPr>
            <a:r>
              <a:rPr lang="en-IN" sz="1400" dirty="0" err="1">
                <a:solidFill>
                  <a:schemeClr val="tx1"/>
                </a:solidFill>
                <a:latin typeface="+mn-lt"/>
              </a:rPr>
              <a:t>CrowdTwin</a:t>
            </a:r>
            <a:r>
              <a:rPr lang="en-IN" sz="1400" dirty="0">
                <a:solidFill>
                  <a:schemeClr val="tx1"/>
                </a:solidFill>
                <a:latin typeface="+mn-lt"/>
              </a:rPr>
              <a:t> is a real-time Digital Twin platform for university campus crowd management</a:t>
            </a:r>
          </a:p>
          <a:p>
            <a:pPr marL="285750" indent="-171450" algn="l">
              <a:buFont typeface="Arial" panose="020B0604020202020204" pitchFamily="34" charset="0"/>
              <a:buChar char="•"/>
            </a:pPr>
            <a:r>
              <a:rPr lang="en-IN" sz="1400" dirty="0">
                <a:solidFill>
                  <a:schemeClr val="tx1"/>
                </a:solidFill>
                <a:latin typeface="+mn-lt"/>
              </a:rPr>
              <a:t>IoT sensors (cameras, occupancy sensors, road monitors) are deployed across the campus to capture live crowd data</a:t>
            </a:r>
          </a:p>
          <a:p>
            <a:pPr marL="285750" indent="-171450" algn="l">
              <a:buFont typeface="Arial" panose="020B0604020202020204" pitchFamily="34" charset="0"/>
              <a:buChar char="•"/>
            </a:pPr>
            <a:r>
              <a:rPr lang="en-IN" sz="1400" dirty="0">
                <a:solidFill>
                  <a:schemeClr val="tx1"/>
                </a:solidFill>
                <a:latin typeface="+mn-lt"/>
              </a:rPr>
              <a:t>A 3D interactive map renders the campus with semantic building classification and real-time agent movement</a:t>
            </a:r>
          </a:p>
          <a:p>
            <a:pPr marL="285750" indent="-171450" algn="l">
              <a:buFont typeface="Arial" panose="020B0604020202020204" pitchFamily="34" charset="0"/>
              <a:buChar char="•"/>
            </a:pPr>
            <a:r>
              <a:rPr lang="en-IN" sz="1400" dirty="0">
                <a:solidFill>
                  <a:schemeClr val="tx1"/>
                </a:solidFill>
                <a:latin typeface="+mn-lt"/>
              </a:rPr>
              <a:t>Three operational modes: Visualize (monitor), Actuate (control), Simulate (predict)</a:t>
            </a:r>
          </a:p>
          <a:p>
            <a:pPr marL="285750" indent="-171450" algn="l">
              <a:buFont typeface="Arial" panose="020B0604020202020204" pitchFamily="34" charset="0"/>
              <a:buChar char="•"/>
            </a:pPr>
            <a:r>
              <a:rPr lang="en-IN" sz="1400" dirty="0">
                <a:solidFill>
                  <a:schemeClr val="tx1"/>
                </a:solidFill>
                <a:latin typeface="+mn-lt"/>
              </a:rPr>
              <a:t>AI-powered decision engine (Gemini/GPT) provides smart recommendations for crowd management</a:t>
            </a:r>
          </a:p>
          <a:p>
            <a:pPr marL="285750" indent="-171450" algn="l">
              <a:buFont typeface="Arial" panose="020B0604020202020204" pitchFamily="34" charset="0"/>
              <a:buChar char="•"/>
            </a:pPr>
            <a:r>
              <a:rPr lang="en-IN" sz="1400" dirty="0">
                <a:solidFill>
                  <a:schemeClr val="tx1"/>
                </a:solidFill>
                <a:latin typeface="+mn-lt"/>
              </a:rPr>
              <a:t>Prevents stampedes, optimizes event logistics, and enables data-driven campus planning</a:t>
            </a:r>
          </a:p>
          <a:p>
            <a:pPr marL="285750" indent="-171450" algn="l">
              <a:buFont typeface="Arial" panose="020B0604020202020204" pitchFamily="34" charset="0"/>
              <a:buChar char="•"/>
            </a:pPr>
            <a:r>
              <a:rPr lang="en-IN" sz="1400" dirty="0" err="1">
                <a:solidFill>
                  <a:schemeClr val="tx1"/>
                </a:solidFill>
                <a:latin typeface="+mn-lt"/>
              </a:rPr>
              <a:t>CrowdTwin</a:t>
            </a:r>
            <a:r>
              <a:rPr lang="en-IN" sz="1400" dirty="0">
                <a:solidFill>
                  <a:schemeClr val="tx1"/>
                </a:solidFill>
                <a:latin typeface="+mn-lt"/>
              </a:rPr>
              <a:t> observes, predicts, decides, and intervenes in real-time.”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D205E85-A06A-2B60-FD0C-0A1FD0A977CA}"/>
              </a:ext>
            </a:extLst>
          </p:cNvPr>
          <p:cNvSpPr txBox="1"/>
          <p:nvPr/>
        </p:nvSpPr>
        <p:spPr>
          <a:xfrm>
            <a:off x="5327375" y="4320226"/>
            <a:ext cx="369735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sz="800" b="1" dirty="0"/>
              <a:t>Projected Peak Conditions (Medium-sized campus):</a:t>
            </a:r>
          </a:p>
          <a:p>
            <a:pPr>
              <a:buNone/>
            </a:pPr>
            <a:r>
              <a:rPr lang="en-IN" sz="800" dirty="0"/>
              <a:t>• 1,000–3,000 people moving simultaneously</a:t>
            </a:r>
            <a:br>
              <a:rPr lang="en-IN" sz="800" dirty="0"/>
            </a:br>
            <a:r>
              <a:rPr lang="en-IN" sz="800" dirty="0"/>
              <a:t>• 8–15 high-density hotspots</a:t>
            </a:r>
            <a:br>
              <a:rPr lang="en-IN" sz="800" dirty="0"/>
            </a:br>
            <a:r>
              <a:rPr lang="en-IN" sz="800" dirty="0"/>
              <a:t>• 2–5 min delay in manual response</a:t>
            </a:r>
          </a:p>
        </p:txBody>
      </p:sp>
      <p:pic>
        <p:nvPicPr>
          <p:cNvPr id="1036" name="Picture 12">
            <a:extLst>
              <a:ext uri="{FF2B5EF4-FFF2-40B4-BE49-F238E27FC236}">
                <a16:creationId xmlns:a16="http://schemas.microsoft.com/office/drawing/2014/main" id="{926FB2EA-EEC1-5F13-20F6-2852555649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70538" y="711422"/>
            <a:ext cx="3436140" cy="37996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Google Shape;75;p15" title="AMD.PS.S11.png">
            <a:extLst>
              <a:ext uri="{FF2B5EF4-FFF2-40B4-BE49-F238E27FC236}">
                <a16:creationId xmlns:a16="http://schemas.microsoft.com/office/drawing/2014/main" id="{F7660038-8024-BE24-096C-A6CE4EF86C34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 t="98295"/>
          <a:stretch/>
        </p:blipFill>
        <p:spPr>
          <a:xfrm>
            <a:off x="0" y="5055825"/>
            <a:ext cx="9144000" cy="876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5"/>
          <p:cNvSpPr txBox="1">
            <a:spLocks noGrp="1"/>
          </p:cNvSpPr>
          <p:nvPr>
            <p:ph type="ctrTitle"/>
          </p:nvPr>
        </p:nvSpPr>
        <p:spPr>
          <a:xfrm>
            <a:off x="311700" y="744575"/>
            <a:ext cx="8520600" cy="447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-GB" sz="1620" b="1">
                <a:latin typeface="Poppins"/>
                <a:ea typeface="Poppins"/>
                <a:cs typeface="Poppins"/>
                <a:sym typeface="Poppins"/>
              </a:rPr>
              <a:t>Opportunities</a:t>
            </a:r>
            <a:endParaRPr sz="1620" b="1">
              <a:latin typeface="Poppins"/>
              <a:ea typeface="Poppins"/>
              <a:cs typeface="Poppins"/>
              <a:sym typeface="Poppins"/>
            </a:endParaRPr>
          </a:p>
        </p:txBody>
      </p:sp>
      <p:pic>
        <p:nvPicPr>
          <p:cNvPr id="74" name="Google Shape;74;p15" title="AMD.PS.S22.png"/>
          <p:cNvPicPr preferRelativeResize="0"/>
          <p:nvPr/>
        </p:nvPicPr>
        <p:blipFill rotWithShape="1">
          <a:blip r:embed="rId3">
            <a:alphaModFix/>
          </a:blip>
          <a:srcRect b="89082"/>
          <a:stretch/>
        </p:blipFill>
        <p:spPr>
          <a:xfrm>
            <a:off x="0" y="0"/>
            <a:ext cx="9144000" cy="561524"/>
          </a:xfrm>
          <a:prstGeom prst="rect">
            <a:avLst/>
          </a:prstGeom>
          <a:noFill/>
          <a:ln>
            <a:noFill/>
          </a:ln>
        </p:spPr>
      </p:pic>
      <p:pic>
        <p:nvPicPr>
          <p:cNvPr id="75" name="Google Shape;75;p15" title="AMD.PS.S11.png"/>
          <p:cNvPicPr preferRelativeResize="0"/>
          <p:nvPr/>
        </p:nvPicPr>
        <p:blipFill rotWithShape="1">
          <a:blip r:embed="rId4">
            <a:alphaModFix/>
          </a:blip>
          <a:srcRect t="98295"/>
          <a:stretch/>
        </p:blipFill>
        <p:spPr>
          <a:xfrm>
            <a:off x="0" y="5055825"/>
            <a:ext cx="9144000" cy="87674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B984990-174C-4281-FE1F-DEE55DFB0B4A}"/>
              </a:ext>
            </a:extLst>
          </p:cNvPr>
          <p:cNvSpPr txBox="1"/>
          <p:nvPr/>
        </p:nvSpPr>
        <p:spPr>
          <a:xfrm>
            <a:off x="2286000" y="481355"/>
            <a:ext cx="4572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endParaRPr lang="en-IN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C60AA4D9-3B7F-4883-503D-3007DC9F2DE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69574" y="789132"/>
            <a:ext cx="9144000" cy="47148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>
            <a:extLst>
              <a:ext uri="{FF2B5EF4-FFF2-40B4-BE49-F238E27FC236}">
                <a16:creationId xmlns:a16="http://schemas.microsoft.com/office/drawing/2014/main" id="{112F291A-5301-29EA-1006-84E25531211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39913" y="635243"/>
            <a:ext cx="1834513" cy="15808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6"/>
          <p:cNvSpPr txBox="1">
            <a:spLocks noGrp="1"/>
          </p:cNvSpPr>
          <p:nvPr>
            <p:ph type="ctrTitle"/>
          </p:nvPr>
        </p:nvSpPr>
        <p:spPr>
          <a:xfrm>
            <a:off x="311700" y="744575"/>
            <a:ext cx="8520600" cy="447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-GB" sz="1620" b="1">
                <a:latin typeface="Poppins"/>
                <a:ea typeface="Poppins"/>
                <a:cs typeface="Poppins"/>
                <a:sym typeface="Poppins"/>
              </a:rPr>
              <a:t>List of features offered by the solution</a:t>
            </a:r>
            <a:endParaRPr sz="1620" b="1">
              <a:latin typeface="Poppins"/>
              <a:ea typeface="Poppins"/>
              <a:cs typeface="Poppins"/>
              <a:sym typeface="Poppins"/>
            </a:endParaRPr>
          </a:p>
        </p:txBody>
      </p:sp>
      <p:pic>
        <p:nvPicPr>
          <p:cNvPr id="82" name="Google Shape;82;p16" title="AMD.PS.S22.png"/>
          <p:cNvPicPr preferRelativeResize="0"/>
          <p:nvPr/>
        </p:nvPicPr>
        <p:blipFill rotWithShape="1">
          <a:blip r:embed="rId3">
            <a:alphaModFix/>
          </a:blip>
          <a:srcRect b="89082"/>
          <a:stretch/>
        </p:blipFill>
        <p:spPr>
          <a:xfrm>
            <a:off x="0" y="0"/>
            <a:ext cx="9144000" cy="561524"/>
          </a:xfrm>
          <a:prstGeom prst="rect">
            <a:avLst/>
          </a:prstGeom>
          <a:noFill/>
          <a:ln>
            <a:noFill/>
          </a:ln>
        </p:spPr>
      </p:pic>
      <p:pic>
        <p:nvPicPr>
          <p:cNvPr id="83" name="Google Shape;83;p16" title="AMD.PS.S11.png"/>
          <p:cNvPicPr preferRelativeResize="0"/>
          <p:nvPr/>
        </p:nvPicPr>
        <p:blipFill rotWithShape="1">
          <a:blip r:embed="rId4">
            <a:alphaModFix/>
          </a:blip>
          <a:srcRect t="98295"/>
          <a:stretch/>
        </p:blipFill>
        <p:spPr>
          <a:xfrm>
            <a:off x="0" y="5055825"/>
            <a:ext cx="9144000" cy="87674"/>
          </a:xfrm>
          <a:prstGeom prst="rect">
            <a:avLst/>
          </a:prstGeom>
          <a:noFill/>
          <a:ln>
            <a:noFill/>
          </a:ln>
        </p:spPr>
      </p:pic>
      <p:pic>
        <p:nvPicPr>
          <p:cNvPr id="3074" name="Picture 2">
            <a:extLst>
              <a:ext uri="{FF2B5EF4-FFF2-40B4-BE49-F238E27FC236}">
                <a16:creationId xmlns:a16="http://schemas.microsoft.com/office/drawing/2014/main" id="{CE45C01F-7BFF-DB81-1556-5FA14DDF75A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745" b="8353"/>
          <a:stretch>
            <a:fillRect/>
          </a:stretch>
        </p:blipFill>
        <p:spPr bwMode="auto">
          <a:xfrm>
            <a:off x="3841474" y="968375"/>
            <a:ext cx="5536096" cy="39809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77D2E10-5409-F64C-5DA7-ED818A0EC2CB}"/>
              </a:ext>
            </a:extLst>
          </p:cNvPr>
          <p:cNvSpPr txBox="1"/>
          <p:nvPr/>
        </p:nvSpPr>
        <p:spPr>
          <a:xfrm>
            <a:off x="194916" y="1309931"/>
            <a:ext cx="3763343" cy="31624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>
              <a:buNone/>
            </a:pPr>
            <a:r>
              <a:rPr lang="en-IN" sz="1050" dirty="0">
                <a:effectLst/>
              </a:rPr>
              <a:t>• </a:t>
            </a:r>
            <a:r>
              <a:rPr lang="en-IN" sz="1050" b="1" dirty="0">
                <a:effectLst/>
              </a:rPr>
              <a:t>VISUALIZE: </a:t>
            </a:r>
            <a:r>
              <a:rPr lang="en-IN" sz="1050" dirty="0">
                <a:effectLst/>
              </a:rPr>
              <a:t>Live IoT camera feeds, 3D campus map, real-time zone occupancy, people tracking </a:t>
            </a:r>
          </a:p>
          <a:p>
            <a:pPr algn="l" rtl="0">
              <a:buNone/>
            </a:pPr>
            <a:r>
              <a:rPr lang="en-IN" sz="1050" b="1" dirty="0">
                <a:effectLst/>
              </a:rPr>
              <a:t>• ACTUATE: </a:t>
            </a:r>
            <a:r>
              <a:rPr lang="en-IN" sz="1050" dirty="0">
                <a:effectLst/>
              </a:rPr>
              <a:t>Road control (Open/Soft Close/Hard Close), classroom IoT setup, automated actuation rules, event management</a:t>
            </a:r>
          </a:p>
          <a:p>
            <a:pPr algn="l" rtl="0">
              <a:buNone/>
            </a:pPr>
            <a:r>
              <a:rPr lang="en-IN" sz="1050" dirty="0">
                <a:effectLst/>
              </a:rPr>
              <a:t>• </a:t>
            </a:r>
            <a:r>
              <a:rPr lang="en-IN" sz="1050" b="1" dirty="0">
                <a:effectLst/>
              </a:rPr>
              <a:t>SIMULATE: </a:t>
            </a:r>
            <a:r>
              <a:rPr lang="en-IN" sz="1050" dirty="0">
                <a:effectLst/>
              </a:rPr>
              <a:t>Time-controlled sandbox (1x/5x/15x), schedule builder, what-if road closures, congestion prediction</a:t>
            </a:r>
          </a:p>
          <a:p>
            <a:pPr algn="l" rtl="0">
              <a:buNone/>
            </a:pPr>
            <a:r>
              <a:rPr lang="en-IN" sz="1050" dirty="0">
                <a:effectLst/>
              </a:rPr>
              <a:t>• </a:t>
            </a:r>
            <a:r>
              <a:rPr lang="en-IN" sz="1050" b="1" dirty="0">
                <a:effectLst/>
              </a:rPr>
              <a:t>AI ENGINE: </a:t>
            </a:r>
            <a:r>
              <a:rPr lang="en-IN" sz="1050" dirty="0">
                <a:effectLst/>
              </a:rPr>
              <a:t>Gemini/GPT-powered building suggestions, </a:t>
            </a:r>
            <a:r>
              <a:rPr lang="en-IN" sz="1050" dirty="0" err="1">
                <a:effectLst/>
              </a:rPr>
              <a:t>LangGraph</a:t>
            </a:r>
            <a:r>
              <a:rPr lang="en-IN" sz="1050" dirty="0">
                <a:effectLst/>
              </a:rPr>
              <a:t> decision pipeline, automatic fallback heuristics</a:t>
            </a:r>
          </a:p>
          <a:p>
            <a:pPr algn="l" rtl="0">
              <a:buNone/>
            </a:pPr>
            <a:r>
              <a:rPr lang="en-IN" sz="1050" dirty="0">
                <a:effectLst/>
              </a:rPr>
              <a:t>• </a:t>
            </a:r>
            <a:r>
              <a:rPr lang="en-IN" sz="1050" b="1" dirty="0">
                <a:effectLst/>
              </a:rPr>
              <a:t>IoT SENSORS: </a:t>
            </a:r>
            <a:r>
              <a:rPr lang="en-IN" sz="1050" dirty="0">
                <a:effectLst/>
              </a:rPr>
              <a:t>camera nodes at building entrances, occupancy sensors in buildings, road congestion monitors</a:t>
            </a:r>
          </a:p>
          <a:p>
            <a:pPr algn="l" rtl="0">
              <a:buNone/>
            </a:pPr>
            <a:r>
              <a:rPr lang="en-IN" sz="1050" dirty="0">
                <a:effectLst/>
              </a:rPr>
              <a:t>• </a:t>
            </a:r>
            <a:r>
              <a:rPr lang="en-IN" sz="1050" b="1" dirty="0">
                <a:effectLst/>
              </a:rPr>
              <a:t>3D RENDERING: </a:t>
            </a:r>
            <a:r>
              <a:rPr lang="en-IN" sz="1050" dirty="0" err="1">
                <a:effectLst/>
              </a:rPr>
              <a:t>MapLibre</a:t>
            </a:r>
            <a:r>
              <a:rPr lang="en-IN" sz="1050" dirty="0">
                <a:effectLst/>
              </a:rPr>
              <a:t> GL with GLTF models, semantic building </a:t>
            </a:r>
            <a:r>
              <a:rPr lang="en-IN" sz="1050" dirty="0" err="1">
                <a:effectLst/>
              </a:rPr>
              <a:t>colors</a:t>
            </a:r>
            <a:r>
              <a:rPr lang="en-IN" sz="1050" dirty="0">
                <a:effectLst/>
              </a:rPr>
              <a:t>, A* pathfinding, cohort-based agent simulation</a:t>
            </a:r>
          </a:p>
          <a:p>
            <a:pPr algn="l" rtl="0">
              <a:buNone/>
            </a:pPr>
            <a:r>
              <a:rPr lang="en-IN" sz="1050" dirty="0">
                <a:effectLst/>
              </a:rPr>
              <a:t>• </a:t>
            </a:r>
            <a:r>
              <a:rPr lang="en-IN" sz="1050" b="1" dirty="0">
                <a:effectLst/>
              </a:rPr>
              <a:t>CSV UPLOAD: </a:t>
            </a:r>
            <a:r>
              <a:rPr lang="en-IN" sz="1050" dirty="0">
                <a:effectLst/>
              </a:rPr>
              <a:t>Import real timetables, automatic schedule parsing, movement plan generation</a:t>
            </a:r>
          </a:p>
          <a:p>
            <a:pPr algn="l" rtl="0">
              <a:buNone/>
            </a:pPr>
            <a:r>
              <a:rPr lang="en-IN" sz="1050">
                <a:effectLst/>
              </a:rPr>
              <a:t>• </a:t>
            </a:r>
            <a:r>
              <a:rPr lang="en-IN" sz="1050" b="1" dirty="0">
                <a:effectLst/>
              </a:rPr>
              <a:t>ROLE-BASED ACCESS: </a:t>
            </a:r>
            <a:r>
              <a:rPr lang="en-IN" sz="1050" dirty="0">
                <a:effectLst/>
              </a:rPr>
              <a:t>Admin (full control), Faculty (classroom setup), Student (limited actuation)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7"/>
          <p:cNvSpPr txBox="1">
            <a:spLocks noGrp="1"/>
          </p:cNvSpPr>
          <p:nvPr>
            <p:ph type="ctrTitle"/>
          </p:nvPr>
        </p:nvSpPr>
        <p:spPr>
          <a:xfrm>
            <a:off x="311700" y="744575"/>
            <a:ext cx="8520600" cy="447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-GB" sz="1620" b="1">
                <a:latin typeface="Poppins"/>
                <a:ea typeface="Poppins"/>
                <a:cs typeface="Poppins"/>
                <a:sym typeface="Poppins"/>
              </a:rPr>
              <a:t>Process flow diagram or Use-case diagram</a:t>
            </a:r>
            <a:endParaRPr sz="1620" b="1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89" name="Google Shape;89;p17"/>
          <p:cNvSpPr txBox="1">
            <a:spLocks noGrp="1"/>
          </p:cNvSpPr>
          <p:nvPr>
            <p:ph type="subTitle" idx="1"/>
          </p:nvPr>
        </p:nvSpPr>
        <p:spPr>
          <a:xfrm>
            <a:off x="311700" y="1249775"/>
            <a:ext cx="5423178" cy="3525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1300" b="1" dirty="0">
                <a:solidFill>
                  <a:srgbClr val="333333"/>
                </a:solidFill>
              </a:rPr>
              <a:t>Process Flow: </a:t>
            </a:r>
            <a:endParaRPr lang="en-US" sz="1300" b="1" dirty="0">
              <a:solidFill>
                <a:srgbClr val="333333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1300" b="1" dirty="0">
                <a:solidFill>
                  <a:srgbClr val="333333"/>
                </a:solidFill>
              </a:rPr>
              <a:t>IoT → Digital Twin → AI → Actuation</a:t>
            </a:r>
            <a:endParaRPr sz="1300" dirty="0">
              <a:latin typeface="Poppins"/>
              <a:ea typeface="Poppins"/>
              <a:cs typeface="Poppins"/>
              <a:sym typeface="Poppins"/>
            </a:endParaRPr>
          </a:p>
          <a:p>
            <a:pPr algn="l"/>
            <a:r>
              <a:rPr sz="1100" dirty="0">
                <a:solidFill>
                  <a:srgbClr val="444444"/>
                </a:solidFill>
              </a:rPr>
              <a:t>• DATA COLLECTION: IoT sensors (cameras, occupancy, road monitors) push data via REST APIs</a:t>
            </a:r>
          </a:p>
          <a:p>
            <a:pPr algn="l"/>
            <a:r>
              <a:rPr sz="1100" dirty="0">
                <a:solidFill>
                  <a:srgbClr val="444444"/>
                </a:solidFill>
              </a:rPr>
              <a:t>• INGESTION: FastAPI backend receives, validates, and stores sensor data in real-time</a:t>
            </a:r>
          </a:p>
          <a:p>
            <a:pPr algn="l"/>
            <a:r>
              <a:rPr sz="1100" dirty="0">
                <a:solidFill>
                  <a:srgbClr val="444444"/>
                </a:solidFill>
              </a:rPr>
              <a:t>• VISUALIZATION: 3D </a:t>
            </a:r>
            <a:r>
              <a:rPr sz="1100" dirty="0" err="1">
                <a:solidFill>
                  <a:srgbClr val="444444"/>
                </a:solidFill>
              </a:rPr>
              <a:t>MapLibre</a:t>
            </a:r>
            <a:r>
              <a:rPr sz="1100" dirty="0">
                <a:solidFill>
                  <a:srgbClr val="444444"/>
                </a:solidFill>
              </a:rPr>
              <a:t> canvas renders campus with live agent positions from sensor data</a:t>
            </a:r>
          </a:p>
          <a:p>
            <a:pPr algn="l"/>
            <a:r>
              <a:rPr sz="1100" dirty="0">
                <a:solidFill>
                  <a:srgbClr val="444444"/>
                </a:solidFill>
              </a:rPr>
              <a:t>• ANALYSIS: Congestion engine aggregates occupancy data, identifies hotspots and bottlenecks</a:t>
            </a:r>
          </a:p>
          <a:p>
            <a:pPr algn="l"/>
            <a:r>
              <a:rPr sz="1100" dirty="0">
                <a:solidFill>
                  <a:srgbClr val="444444"/>
                </a:solidFill>
              </a:rPr>
              <a:t>• AI DECISION: Gemini/GPT analyzes congestion patterns and suggests optimal actuation actions</a:t>
            </a:r>
          </a:p>
          <a:p>
            <a:pPr algn="l"/>
            <a:r>
              <a:rPr sz="1100" dirty="0">
                <a:solidFill>
                  <a:srgbClr val="444444"/>
                </a:solidFill>
              </a:rPr>
              <a:t>• ACTUATION: Road closures, event redirects, and classroom setup triggered automatically or manually</a:t>
            </a:r>
          </a:p>
          <a:p>
            <a:pPr algn="l"/>
            <a:r>
              <a:rPr sz="1100" dirty="0">
                <a:solidFill>
                  <a:srgbClr val="444444"/>
                </a:solidFill>
              </a:rPr>
              <a:t>• SIMULATION: Sandbox mode allows testing what-if scenarios before deploying changes</a:t>
            </a:r>
          </a:p>
          <a:p>
            <a:pPr algn="l"/>
            <a:r>
              <a:rPr sz="1100" dirty="0">
                <a:solidFill>
                  <a:srgbClr val="444444"/>
                </a:solidFill>
              </a:rPr>
              <a:t>• FEEDBACK LOOP: Sensor data validates actuation effects, enabling continuous optimization</a:t>
            </a:r>
          </a:p>
        </p:txBody>
      </p:sp>
      <p:pic>
        <p:nvPicPr>
          <p:cNvPr id="90" name="Google Shape;90;p17" title="AMD.PS.S22.png"/>
          <p:cNvPicPr preferRelativeResize="0"/>
          <p:nvPr/>
        </p:nvPicPr>
        <p:blipFill rotWithShape="1">
          <a:blip r:embed="rId3">
            <a:alphaModFix/>
          </a:blip>
          <a:srcRect b="89082"/>
          <a:stretch/>
        </p:blipFill>
        <p:spPr>
          <a:xfrm>
            <a:off x="0" y="0"/>
            <a:ext cx="9144000" cy="561524"/>
          </a:xfrm>
          <a:prstGeom prst="rect">
            <a:avLst/>
          </a:prstGeom>
          <a:noFill/>
          <a:ln>
            <a:noFill/>
          </a:ln>
        </p:spPr>
      </p:pic>
      <p:pic>
        <p:nvPicPr>
          <p:cNvPr id="91" name="Google Shape;91;p17" title="AMD.PS.S11.png"/>
          <p:cNvPicPr preferRelativeResize="0"/>
          <p:nvPr/>
        </p:nvPicPr>
        <p:blipFill rotWithShape="1">
          <a:blip r:embed="rId4">
            <a:alphaModFix/>
          </a:blip>
          <a:srcRect t="98295"/>
          <a:stretch/>
        </p:blipFill>
        <p:spPr>
          <a:xfrm>
            <a:off x="0" y="5055825"/>
            <a:ext cx="9144000" cy="87674"/>
          </a:xfrm>
          <a:prstGeom prst="rect">
            <a:avLst/>
          </a:prstGeom>
          <a:noFill/>
          <a:ln>
            <a:noFill/>
          </a:ln>
        </p:spPr>
      </p:pic>
      <p:pic>
        <p:nvPicPr>
          <p:cNvPr id="4098" name="Picture 2">
            <a:extLst>
              <a:ext uri="{FF2B5EF4-FFF2-40B4-BE49-F238E27FC236}">
                <a16:creationId xmlns:a16="http://schemas.microsoft.com/office/drawing/2014/main" id="{AD548F38-B1D9-6BC1-3C02-C5C20D73FF3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918"/>
          <a:stretch>
            <a:fillRect/>
          </a:stretch>
        </p:blipFill>
        <p:spPr bwMode="auto">
          <a:xfrm>
            <a:off x="5615609" y="619081"/>
            <a:ext cx="3637720" cy="46602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8"/>
          <p:cNvSpPr txBox="1">
            <a:spLocks noGrp="1"/>
          </p:cNvSpPr>
          <p:nvPr>
            <p:ph type="ctrTitle"/>
          </p:nvPr>
        </p:nvSpPr>
        <p:spPr>
          <a:xfrm>
            <a:off x="311700" y="561524"/>
            <a:ext cx="8520600" cy="447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-GB" sz="1620" b="1" dirty="0">
                <a:latin typeface="Poppins"/>
                <a:ea typeface="Poppins"/>
                <a:cs typeface="Poppins"/>
                <a:sym typeface="Poppins"/>
              </a:rPr>
              <a:t>Wireframes/Mock diagrams of the proposed solution</a:t>
            </a:r>
          </a:p>
        </p:txBody>
      </p:sp>
      <p:sp>
        <p:nvSpPr>
          <p:cNvPr id="97" name="Google Shape;97;p18"/>
          <p:cNvSpPr txBox="1">
            <a:spLocks noGrp="1"/>
          </p:cNvSpPr>
          <p:nvPr>
            <p:ph type="subTitle" idx="1"/>
          </p:nvPr>
        </p:nvSpPr>
        <p:spPr>
          <a:xfrm>
            <a:off x="311700" y="1009124"/>
            <a:ext cx="8520600" cy="4320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1200" dirty="0">
                <a:solidFill>
                  <a:srgbClr val="444444"/>
                </a:solidFill>
              </a:rPr>
              <a:t>See attached screenshots: Visualize Mode, Actuate Mode, Simulate Mode, 3D Map View</a:t>
            </a:r>
            <a:endParaRPr sz="1300" dirty="0">
              <a:latin typeface="Poppins"/>
              <a:ea typeface="Poppins"/>
              <a:cs typeface="Poppins"/>
              <a:sym typeface="Poppins"/>
            </a:endParaRPr>
          </a:p>
        </p:txBody>
      </p:sp>
      <p:pic>
        <p:nvPicPr>
          <p:cNvPr id="98" name="Google Shape;98;p18" title="AMD.PS.S22.png"/>
          <p:cNvPicPr preferRelativeResize="0"/>
          <p:nvPr/>
        </p:nvPicPr>
        <p:blipFill rotWithShape="1">
          <a:blip r:embed="rId3">
            <a:alphaModFix/>
          </a:blip>
          <a:srcRect b="89082"/>
          <a:stretch/>
        </p:blipFill>
        <p:spPr>
          <a:xfrm>
            <a:off x="0" y="0"/>
            <a:ext cx="9144000" cy="561524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18" title="AMD.PS.S11.png"/>
          <p:cNvPicPr preferRelativeResize="0"/>
          <p:nvPr/>
        </p:nvPicPr>
        <p:blipFill rotWithShape="1">
          <a:blip r:embed="rId4">
            <a:alphaModFix/>
          </a:blip>
          <a:srcRect t="98295"/>
          <a:stretch/>
        </p:blipFill>
        <p:spPr>
          <a:xfrm>
            <a:off x="0" y="5055825"/>
            <a:ext cx="9144000" cy="87674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2036D918-BD85-EC64-F594-B41D499B0397}"/>
              </a:ext>
            </a:extLst>
          </p:cNvPr>
          <p:cNvGrpSpPr/>
          <p:nvPr/>
        </p:nvGrpSpPr>
        <p:grpSpPr>
          <a:xfrm>
            <a:off x="6062869" y="1978431"/>
            <a:ext cx="3081131" cy="2388504"/>
            <a:chOff x="5495833" y="1701375"/>
            <a:chExt cx="3237076" cy="3007344"/>
          </a:xfrm>
        </p:grpSpPr>
        <p:pic>
          <p:nvPicPr>
            <p:cNvPr id="102" name="Picture 101" descr="03_simulate_mode.png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495833" y="1701376"/>
              <a:ext cx="2262536" cy="1420662"/>
            </a:xfrm>
            <a:prstGeom prst="rect">
              <a:avLst/>
            </a:prstGeom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A244CD67-FA40-C746-91F7-56433C9B0B97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7831113" y="1701375"/>
              <a:ext cx="901796" cy="3007343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E290BECC-C51D-C547-D0D4-DABE766315B5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5495833" y="3288057"/>
              <a:ext cx="2262536" cy="1420662"/>
            </a:xfrm>
            <a:prstGeom prst="rect">
              <a:avLst/>
            </a:prstGeom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800D5FC6-F1C4-7EB4-793C-6E1CFB49066D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7831113" y="3983935"/>
              <a:ext cx="883355" cy="724783"/>
            </a:xfrm>
            <a:prstGeom prst="rect">
              <a:avLst/>
            </a:prstGeom>
          </p:spPr>
        </p:pic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F15B0BCB-522C-08B8-DB88-07250230B89D}"/>
              </a:ext>
            </a:extLst>
          </p:cNvPr>
          <p:cNvGrpSpPr/>
          <p:nvPr/>
        </p:nvGrpSpPr>
        <p:grpSpPr>
          <a:xfrm>
            <a:off x="2839308" y="1994652"/>
            <a:ext cx="3154322" cy="2388504"/>
            <a:chOff x="2574236" y="1701375"/>
            <a:chExt cx="2928163" cy="2753136"/>
          </a:xfrm>
        </p:grpSpPr>
        <p:pic>
          <p:nvPicPr>
            <p:cNvPr id="101" name="Picture 100" descr="02_actuate_mode.png"/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2574236" y="1701376"/>
              <a:ext cx="2059536" cy="1293197"/>
            </a:xfrm>
            <a:prstGeom prst="rect">
              <a:avLst/>
            </a:prstGeom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FAAFCE7D-07CD-F3B1-52A9-5B4986AAC0F7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2574236" y="3161314"/>
              <a:ext cx="2059536" cy="1293197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6AD80CF4-DE18-E2B4-E9D8-6FB366DE1931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4706516" y="1701375"/>
              <a:ext cx="795883" cy="2753135"/>
            </a:xfrm>
            <a:prstGeom prst="rect">
              <a:avLst/>
            </a:prstGeom>
          </p:spPr>
        </p:pic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688FDE69-C4EC-BBDA-B324-91BD70E4984C}"/>
              </a:ext>
            </a:extLst>
          </p:cNvPr>
          <p:cNvGrpSpPr/>
          <p:nvPr/>
        </p:nvGrpSpPr>
        <p:grpSpPr>
          <a:xfrm>
            <a:off x="43344" y="1994652"/>
            <a:ext cx="2716841" cy="2388505"/>
            <a:chOff x="43344" y="1994652"/>
            <a:chExt cx="2957402" cy="2702904"/>
          </a:xfrm>
        </p:grpSpPr>
        <p:pic>
          <p:nvPicPr>
            <p:cNvPr id="100" name="Picture 99" descr="01_visualize_mode.png"/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43344" y="1994653"/>
              <a:ext cx="2123079" cy="1333096"/>
            </a:xfrm>
            <a:prstGeom prst="rect">
              <a:avLst/>
            </a:prstGeom>
          </p:spPr>
        </p:pic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73442550-0AE7-CE9D-0A8F-B445307A7FE0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43344" y="3364460"/>
              <a:ext cx="2123079" cy="1333096"/>
            </a:xfrm>
            <a:prstGeom prst="rect">
              <a:avLst/>
            </a:prstGeom>
          </p:spPr>
        </p:pic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C44F9765-92E2-E775-BE23-90F0777C81AC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2234477" y="1994652"/>
              <a:ext cx="766269" cy="2702903"/>
            </a:xfrm>
            <a:prstGeom prst="rect">
              <a:avLst/>
            </a:prstGeom>
          </p:spPr>
        </p:pic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655442E9-6734-C4F3-5577-C4D0E425AB7F}"/>
              </a:ext>
            </a:extLst>
          </p:cNvPr>
          <p:cNvSpPr/>
          <p:nvPr/>
        </p:nvSpPr>
        <p:spPr>
          <a:xfrm>
            <a:off x="0" y="1570648"/>
            <a:ext cx="2839308" cy="2941717"/>
          </a:xfrm>
          <a:prstGeom prst="rect">
            <a:avLst/>
          </a:prstGeom>
          <a:noFill/>
          <a:ln w="190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09C1145-165A-8905-68CE-0E922AB02384}"/>
              </a:ext>
            </a:extLst>
          </p:cNvPr>
          <p:cNvSpPr/>
          <p:nvPr/>
        </p:nvSpPr>
        <p:spPr>
          <a:xfrm>
            <a:off x="2838547" y="1570648"/>
            <a:ext cx="3206770" cy="2941717"/>
          </a:xfrm>
          <a:prstGeom prst="rect">
            <a:avLst/>
          </a:prstGeom>
          <a:noFill/>
          <a:ln w="190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EDF3F46-238C-AFE9-C159-E1AD9BE4BBB3}"/>
              </a:ext>
            </a:extLst>
          </p:cNvPr>
          <p:cNvSpPr/>
          <p:nvPr/>
        </p:nvSpPr>
        <p:spPr>
          <a:xfrm>
            <a:off x="6044556" y="1570648"/>
            <a:ext cx="3099444" cy="2941717"/>
          </a:xfrm>
          <a:prstGeom prst="rect">
            <a:avLst/>
          </a:prstGeom>
          <a:noFill/>
          <a:ln w="190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B98EB1B-3B1C-6F7F-0ACA-78C0B8C51A36}"/>
              </a:ext>
            </a:extLst>
          </p:cNvPr>
          <p:cNvSpPr txBox="1"/>
          <p:nvPr/>
        </p:nvSpPr>
        <p:spPr>
          <a:xfrm>
            <a:off x="43344" y="1630598"/>
            <a:ext cx="908310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400" b="1" dirty="0">
                <a:latin typeface="Poppins"/>
                <a:ea typeface="Poppins"/>
                <a:cs typeface="Poppins"/>
                <a:sym typeface="Poppins"/>
              </a:rPr>
              <a:t>                      Visualisation		Actuation(Control)			Simulation</a:t>
            </a:r>
            <a:endParaRPr lang="en-US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19"/>
          <p:cNvSpPr txBox="1">
            <a:spLocks noGrp="1"/>
          </p:cNvSpPr>
          <p:nvPr>
            <p:ph type="ctrTitle"/>
          </p:nvPr>
        </p:nvSpPr>
        <p:spPr>
          <a:xfrm>
            <a:off x="311700" y="744575"/>
            <a:ext cx="8520600" cy="447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-GB" sz="1620" b="1">
                <a:latin typeface="Poppins"/>
                <a:ea typeface="Poppins"/>
                <a:cs typeface="Poppins"/>
                <a:sym typeface="Poppins"/>
              </a:rPr>
              <a:t>Architecture diagram of the proposed solution</a:t>
            </a:r>
            <a:endParaRPr sz="1620" b="1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05" name="Google Shape;105;p19"/>
          <p:cNvSpPr txBox="1">
            <a:spLocks noGrp="1"/>
          </p:cNvSpPr>
          <p:nvPr>
            <p:ph type="subTitle" idx="1"/>
          </p:nvPr>
        </p:nvSpPr>
        <p:spPr>
          <a:xfrm>
            <a:off x="311700" y="1249775"/>
            <a:ext cx="4628048" cy="3525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lnSpcReduction="1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1300" b="1" dirty="0">
                <a:solidFill>
                  <a:srgbClr val="333333"/>
                </a:solidFill>
              </a:rPr>
              <a:t>System Architecture</a:t>
            </a:r>
            <a:endParaRPr lang="en-US" sz="1300" b="1" dirty="0">
              <a:latin typeface="Poppins"/>
              <a:cs typeface="Poppins"/>
              <a:sym typeface="Poppi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dirty="0">
                <a:solidFill>
                  <a:srgbClr val="444444"/>
                </a:solidFill>
              </a:rPr>
              <a:t>   </a:t>
            </a:r>
            <a:r>
              <a:rPr sz="1000" b="1" dirty="0">
                <a:solidFill>
                  <a:srgbClr val="444444"/>
                </a:solidFill>
              </a:rPr>
              <a:t>FRONTEND LAYER: </a:t>
            </a:r>
            <a:r>
              <a:rPr sz="1000" dirty="0">
                <a:solidFill>
                  <a:srgbClr val="444444"/>
                </a:solidFill>
              </a:rPr>
              <a:t>React 18 + Vite 5 + </a:t>
            </a:r>
            <a:r>
              <a:rPr sz="1000" dirty="0" err="1">
                <a:solidFill>
                  <a:srgbClr val="444444"/>
                </a:solidFill>
              </a:rPr>
              <a:t>MapLibre</a:t>
            </a:r>
            <a:r>
              <a:rPr sz="1000" dirty="0">
                <a:solidFill>
                  <a:srgbClr val="444444"/>
                </a:solidFill>
              </a:rPr>
              <a:t> GL JS (3D rendering)</a:t>
            </a:r>
            <a:endParaRPr lang="en-US" sz="1000" dirty="0">
              <a:solidFill>
                <a:srgbClr val="444444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000" dirty="0">
              <a:solidFill>
                <a:srgbClr val="444444"/>
              </a:solidFill>
            </a:endParaRPr>
          </a:p>
          <a:p>
            <a:pPr algn="l"/>
            <a:r>
              <a:rPr sz="1000" dirty="0">
                <a:solidFill>
                  <a:srgbClr val="444444"/>
                </a:solidFill>
              </a:rPr>
              <a:t>•   → Components: </a:t>
            </a:r>
            <a:r>
              <a:rPr sz="1000" dirty="0" err="1">
                <a:solidFill>
                  <a:srgbClr val="444444"/>
                </a:solidFill>
              </a:rPr>
              <a:t>MapContainer</a:t>
            </a:r>
            <a:r>
              <a:rPr sz="1000" dirty="0">
                <a:solidFill>
                  <a:srgbClr val="444444"/>
                </a:solidFill>
              </a:rPr>
              <a:t>, </a:t>
            </a:r>
            <a:r>
              <a:rPr sz="1000" dirty="0" err="1">
                <a:solidFill>
                  <a:srgbClr val="444444"/>
                </a:solidFill>
              </a:rPr>
              <a:t>RightSidePanel</a:t>
            </a:r>
            <a:r>
              <a:rPr sz="1000" dirty="0">
                <a:solidFill>
                  <a:srgbClr val="444444"/>
                </a:solidFill>
              </a:rPr>
              <a:t> (Vis/Act/Sim), </a:t>
            </a:r>
            <a:r>
              <a:rPr sz="1000" dirty="0" err="1">
                <a:solidFill>
                  <a:srgbClr val="444444"/>
                </a:solidFill>
              </a:rPr>
              <a:t>BuildingPanel</a:t>
            </a:r>
            <a:r>
              <a:rPr sz="1000" dirty="0">
                <a:solidFill>
                  <a:srgbClr val="444444"/>
                </a:solidFill>
              </a:rPr>
              <a:t>, </a:t>
            </a:r>
            <a:r>
              <a:rPr sz="1000" dirty="0" err="1">
                <a:solidFill>
                  <a:srgbClr val="444444"/>
                </a:solidFill>
              </a:rPr>
              <a:t>CSVUploadPanel</a:t>
            </a:r>
            <a:endParaRPr lang="en-US" sz="1000" dirty="0">
              <a:solidFill>
                <a:srgbClr val="444444"/>
              </a:solidFill>
            </a:endParaRPr>
          </a:p>
          <a:p>
            <a:pPr algn="l"/>
            <a:endParaRPr sz="1000" dirty="0">
              <a:solidFill>
                <a:srgbClr val="444444"/>
              </a:solidFill>
            </a:endParaRPr>
          </a:p>
          <a:p>
            <a:pPr algn="l"/>
            <a:r>
              <a:rPr sz="1000" dirty="0">
                <a:solidFill>
                  <a:srgbClr val="444444"/>
                </a:solidFill>
              </a:rPr>
              <a:t>•   → Engine: </a:t>
            </a:r>
            <a:r>
              <a:rPr sz="1000" dirty="0" err="1">
                <a:solidFill>
                  <a:srgbClr val="444444"/>
                </a:solidFill>
              </a:rPr>
              <a:t>CrowdSimulator</a:t>
            </a:r>
            <a:r>
              <a:rPr sz="1000" dirty="0">
                <a:solidFill>
                  <a:srgbClr val="444444"/>
                </a:solidFill>
              </a:rPr>
              <a:t> (agents), </a:t>
            </a:r>
            <a:r>
              <a:rPr sz="1000" dirty="0" err="1">
                <a:solidFill>
                  <a:srgbClr val="444444"/>
                </a:solidFill>
              </a:rPr>
              <a:t>CrowdLayer</a:t>
            </a:r>
            <a:r>
              <a:rPr sz="1000" dirty="0">
                <a:solidFill>
                  <a:srgbClr val="444444"/>
                </a:solidFill>
              </a:rPr>
              <a:t> (</a:t>
            </a:r>
            <a:r>
              <a:rPr sz="1000" dirty="0" err="1">
                <a:solidFill>
                  <a:srgbClr val="444444"/>
                </a:solidFill>
              </a:rPr>
              <a:t>GeoJSON</a:t>
            </a:r>
            <a:r>
              <a:rPr sz="1000" dirty="0">
                <a:solidFill>
                  <a:srgbClr val="444444"/>
                </a:solidFill>
              </a:rPr>
              <a:t>), </a:t>
            </a:r>
            <a:r>
              <a:rPr sz="1000" dirty="0" err="1">
                <a:solidFill>
                  <a:srgbClr val="444444"/>
                </a:solidFill>
              </a:rPr>
              <a:t>NavigationGraph</a:t>
            </a:r>
            <a:r>
              <a:rPr sz="1000" dirty="0">
                <a:solidFill>
                  <a:srgbClr val="444444"/>
                </a:solidFill>
              </a:rPr>
              <a:t> (A* pathfinding), </a:t>
            </a:r>
            <a:r>
              <a:rPr sz="1000" dirty="0" err="1">
                <a:solidFill>
                  <a:srgbClr val="444444"/>
                </a:solidFill>
              </a:rPr>
              <a:t>ModelLayer</a:t>
            </a:r>
            <a:r>
              <a:rPr sz="1000" dirty="0">
                <a:solidFill>
                  <a:srgbClr val="444444"/>
                </a:solidFill>
              </a:rPr>
              <a:t> (GLTF)</a:t>
            </a:r>
            <a:endParaRPr lang="en-US" sz="1000" dirty="0">
              <a:solidFill>
                <a:srgbClr val="444444"/>
              </a:solidFill>
            </a:endParaRPr>
          </a:p>
          <a:p>
            <a:pPr algn="l"/>
            <a:endParaRPr lang="en-US" sz="1000" dirty="0">
              <a:solidFill>
                <a:srgbClr val="444444"/>
              </a:solidFill>
            </a:endParaRPr>
          </a:p>
          <a:p>
            <a:pPr algn="l"/>
            <a:r>
              <a:rPr sz="1000" b="1" dirty="0">
                <a:solidFill>
                  <a:srgbClr val="444444"/>
                </a:solidFill>
              </a:rPr>
              <a:t>BACKEND LAYER: </a:t>
            </a:r>
            <a:r>
              <a:rPr sz="1000" dirty="0">
                <a:solidFill>
                  <a:srgbClr val="444444"/>
                </a:solidFill>
              </a:rPr>
              <a:t>FastAPI (Python) — REST API server</a:t>
            </a:r>
            <a:endParaRPr lang="en-US" sz="1000" dirty="0">
              <a:solidFill>
                <a:srgbClr val="444444"/>
              </a:solidFill>
            </a:endParaRPr>
          </a:p>
          <a:p>
            <a:pPr algn="l"/>
            <a:endParaRPr sz="1000" dirty="0">
              <a:solidFill>
                <a:srgbClr val="444444"/>
              </a:solidFill>
            </a:endParaRPr>
          </a:p>
          <a:p>
            <a:pPr algn="l"/>
            <a:r>
              <a:rPr sz="1000" dirty="0">
                <a:solidFill>
                  <a:srgbClr val="444444"/>
                </a:solidFill>
              </a:rPr>
              <a:t>•   → IoT Ingestion: /camera-feed, /building-occupancy (real-time sensor data)</a:t>
            </a:r>
          </a:p>
          <a:p>
            <a:pPr algn="l"/>
            <a:r>
              <a:rPr sz="1000" dirty="0">
                <a:solidFill>
                  <a:srgbClr val="444444"/>
                </a:solidFill>
              </a:rPr>
              <a:t>•   → AI Engine: Gemini / OpenAI GPT — building suggestions, actuation planning</a:t>
            </a:r>
          </a:p>
          <a:p>
            <a:pPr algn="l"/>
            <a:r>
              <a:rPr sz="1000" dirty="0">
                <a:solidFill>
                  <a:srgbClr val="444444"/>
                </a:solidFill>
              </a:rPr>
              <a:t>•   → Actuation: </a:t>
            </a:r>
            <a:r>
              <a:rPr sz="1000" dirty="0" err="1">
                <a:solidFill>
                  <a:srgbClr val="444444"/>
                </a:solidFill>
              </a:rPr>
              <a:t>LangGraph</a:t>
            </a:r>
            <a:r>
              <a:rPr sz="1000" dirty="0">
                <a:solidFill>
                  <a:srgbClr val="444444"/>
                </a:solidFill>
              </a:rPr>
              <a:t>-style decision graph (Context → Control → Agent → Finalize)</a:t>
            </a:r>
          </a:p>
          <a:p>
            <a:pPr algn="l"/>
            <a:r>
              <a:rPr sz="1000" dirty="0">
                <a:solidFill>
                  <a:srgbClr val="444444"/>
                </a:solidFill>
              </a:rPr>
              <a:t>•   → Data: CSV schedule parser, congestion analysis, road control management</a:t>
            </a:r>
            <a:endParaRPr lang="en-US" sz="1000" dirty="0">
              <a:solidFill>
                <a:srgbClr val="444444"/>
              </a:solidFill>
            </a:endParaRPr>
          </a:p>
          <a:p>
            <a:pPr algn="l"/>
            <a:endParaRPr sz="1000" dirty="0">
              <a:solidFill>
                <a:srgbClr val="444444"/>
              </a:solidFill>
            </a:endParaRPr>
          </a:p>
          <a:p>
            <a:pPr algn="l"/>
            <a:r>
              <a:rPr sz="1000" b="1" dirty="0">
                <a:solidFill>
                  <a:srgbClr val="444444"/>
                </a:solidFill>
              </a:rPr>
              <a:t>IoT SENSOR LAYER: </a:t>
            </a:r>
            <a:r>
              <a:rPr sz="1000" dirty="0">
                <a:solidFill>
                  <a:srgbClr val="444444"/>
                </a:solidFill>
              </a:rPr>
              <a:t>Cameras (8+ nodes), Occupancy Sensors (30+ buildings), Road Monitors (15+ pathways)</a:t>
            </a:r>
            <a:endParaRPr lang="en-US" sz="1000" dirty="0">
              <a:solidFill>
                <a:srgbClr val="444444"/>
              </a:solidFill>
            </a:endParaRPr>
          </a:p>
          <a:p>
            <a:pPr algn="l"/>
            <a:endParaRPr sz="1000" dirty="0">
              <a:solidFill>
                <a:srgbClr val="444444"/>
              </a:solidFill>
            </a:endParaRPr>
          </a:p>
          <a:p>
            <a:pPr algn="l"/>
            <a:r>
              <a:rPr sz="1000" dirty="0">
                <a:solidFill>
                  <a:srgbClr val="444444"/>
                </a:solidFill>
              </a:rPr>
              <a:t>•   → Protocol: REST API (JSON), Real-time push (1-10s intervals)</a:t>
            </a:r>
          </a:p>
        </p:txBody>
      </p:sp>
      <p:pic>
        <p:nvPicPr>
          <p:cNvPr id="106" name="Google Shape;106;p19" title="AMD.PS.S22.png"/>
          <p:cNvPicPr preferRelativeResize="0"/>
          <p:nvPr/>
        </p:nvPicPr>
        <p:blipFill rotWithShape="1">
          <a:blip r:embed="rId3">
            <a:alphaModFix/>
          </a:blip>
          <a:srcRect b="89082"/>
          <a:stretch/>
        </p:blipFill>
        <p:spPr>
          <a:xfrm>
            <a:off x="0" y="0"/>
            <a:ext cx="9144000" cy="561524"/>
          </a:xfrm>
          <a:prstGeom prst="rect">
            <a:avLst/>
          </a:prstGeom>
          <a:noFill/>
          <a:ln>
            <a:noFill/>
          </a:ln>
        </p:spPr>
      </p:pic>
      <p:pic>
        <p:nvPicPr>
          <p:cNvPr id="107" name="Google Shape;107;p19" title="AMD.PS.S11.png"/>
          <p:cNvPicPr preferRelativeResize="0"/>
          <p:nvPr/>
        </p:nvPicPr>
        <p:blipFill rotWithShape="1">
          <a:blip r:embed="rId4">
            <a:alphaModFix/>
          </a:blip>
          <a:srcRect t="98295"/>
          <a:stretch/>
        </p:blipFill>
        <p:spPr>
          <a:xfrm>
            <a:off x="0" y="5055825"/>
            <a:ext cx="9144000" cy="87674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7A5D633B-CFDE-1685-209D-AEA2A1236EA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13172" y="612141"/>
            <a:ext cx="2991680" cy="4487521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20"/>
          <p:cNvSpPr txBox="1">
            <a:spLocks noGrp="1"/>
          </p:cNvSpPr>
          <p:nvPr>
            <p:ph type="ctrTitle"/>
          </p:nvPr>
        </p:nvSpPr>
        <p:spPr>
          <a:xfrm>
            <a:off x="311700" y="744575"/>
            <a:ext cx="8520600" cy="447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-GB" sz="1620" b="1">
                <a:latin typeface="Poppins"/>
                <a:ea typeface="Poppins"/>
                <a:cs typeface="Poppins"/>
                <a:sym typeface="Poppins"/>
              </a:rPr>
              <a:t>Technologies to be used in the solution</a:t>
            </a:r>
            <a:endParaRPr sz="1620" b="1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13" name="Google Shape;113;p20"/>
          <p:cNvSpPr txBox="1">
            <a:spLocks noGrp="1"/>
          </p:cNvSpPr>
          <p:nvPr>
            <p:ph type="subTitle" idx="1"/>
          </p:nvPr>
        </p:nvSpPr>
        <p:spPr>
          <a:xfrm>
            <a:off x="311699" y="1249775"/>
            <a:ext cx="4061517" cy="3525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 dirty="0">
              <a:latin typeface="Poppins"/>
              <a:ea typeface="Poppins"/>
              <a:cs typeface="Poppins"/>
              <a:sym typeface="Poppins"/>
            </a:endParaRPr>
          </a:p>
          <a:p>
            <a:pPr algn="l"/>
            <a:r>
              <a:rPr sz="1200" dirty="0">
                <a:solidFill>
                  <a:srgbClr val="444444"/>
                </a:solidFill>
              </a:rPr>
              <a:t>• FRONTEND: React 18, Vite 5, </a:t>
            </a:r>
            <a:r>
              <a:rPr sz="1200" dirty="0" err="1">
                <a:solidFill>
                  <a:srgbClr val="444444"/>
                </a:solidFill>
              </a:rPr>
              <a:t>MapLibre</a:t>
            </a:r>
            <a:r>
              <a:rPr sz="1200" dirty="0">
                <a:solidFill>
                  <a:srgbClr val="444444"/>
                </a:solidFill>
              </a:rPr>
              <a:t> GL JS 4.x, GLTF/GLB 3D Models</a:t>
            </a:r>
          </a:p>
          <a:p>
            <a:pPr algn="l"/>
            <a:r>
              <a:rPr sz="1200" dirty="0">
                <a:solidFill>
                  <a:srgbClr val="444444"/>
                </a:solidFill>
              </a:rPr>
              <a:t>• BACKEND: FastAPI (Python 3.10+), </a:t>
            </a:r>
            <a:r>
              <a:rPr sz="1200" dirty="0" err="1">
                <a:solidFill>
                  <a:srgbClr val="444444"/>
                </a:solidFill>
              </a:rPr>
              <a:t>Pydantic</a:t>
            </a:r>
            <a:r>
              <a:rPr sz="1200" dirty="0">
                <a:solidFill>
                  <a:srgbClr val="444444"/>
                </a:solidFill>
              </a:rPr>
              <a:t>, </a:t>
            </a:r>
            <a:r>
              <a:rPr sz="1200" dirty="0" err="1">
                <a:solidFill>
                  <a:srgbClr val="444444"/>
                </a:solidFill>
              </a:rPr>
              <a:t>Uvicorn</a:t>
            </a:r>
            <a:endParaRPr sz="1200" dirty="0">
              <a:solidFill>
                <a:srgbClr val="444444"/>
              </a:solidFill>
            </a:endParaRPr>
          </a:p>
          <a:p>
            <a:pPr algn="l"/>
            <a:r>
              <a:rPr sz="1200" dirty="0">
                <a:solidFill>
                  <a:srgbClr val="444444"/>
                </a:solidFill>
              </a:rPr>
              <a:t>• AI/ML: Google Gemini API, OpenAI GPT API, </a:t>
            </a:r>
            <a:r>
              <a:rPr sz="1200" dirty="0" err="1">
                <a:solidFill>
                  <a:srgbClr val="444444"/>
                </a:solidFill>
              </a:rPr>
              <a:t>LangGraph</a:t>
            </a:r>
            <a:r>
              <a:rPr sz="1200" dirty="0">
                <a:solidFill>
                  <a:srgbClr val="444444"/>
                </a:solidFill>
              </a:rPr>
              <a:t>-style decision pipeline</a:t>
            </a:r>
          </a:p>
          <a:p>
            <a:pPr algn="l"/>
            <a:r>
              <a:rPr sz="1200" dirty="0">
                <a:solidFill>
                  <a:srgbClr val="444444"/>
                </a:solidFill>
              </a:rPr>
              <a:t>• 3D ENGINE: </a:t>
            </a:r>
            <a:r>
              <a:rPr sz="1200" dirty="0" err="1">
                <a:solidFill>
                  <a:srgbClr val="444444"/>
                </a:solidFill>
              </a:rPr>
              <a:t>MapLibre</a:t>
            </a:r>
            <a:r>
              <a:rPr sz="1200" dirty="0">
                <a:solidFill>
                  <a:srgbClr val="444444"/>
                </a:solidFill>
              </a:rPr>
              <a:t> GL JS with custom WebGL layers, A* pathfinding, </a:t>
            </a:r>
            <a:r>
              <a:rPr sz="1200" dirty="0" err="1">
                <a:solidFill>
                  <a:srgbClr val="444444"/>
                </a:solidFill>
              </a:rPr>
              <a:t>GeoJSON</a:t>
            </a:r>
            <a:r>
              <a:rPr sz="1200" dirty="0">
                <a:solidFill>
                  <a:srgbClr val="444444"/>
                </a:solidFill>
              </a:rPr>
              <a:t> rendering</a:t>
            </a:r>
          </a:p>
          <a:p>
            <a:pPr algn="l"/>
            <a:r>
              <a:rPr sz="1200" dirty="0">
                <a:solidFill>
                  <a:srgbClr val="444444"/>
                </a:solidFill>
              </a:rPr>
              <a:t>• IoT PROTOCOLS: REST API (JSON), Real-time sensor data ingestion</a:t>
            </a:r>
          </a:p>
          <a:p>
            <a:pPr algn="l"/>
            <a:r>
              <a:rPr sz="1200" dirty="0">
                <a:solidFill>
                  <a:srgbClr val="444444"/>
                </a:solidFill>
              </a:rPr>
              <a:t>• DATA FORMATS: </a:t>
            </a:r>
            <a:r>
              <a:rPr sz="1200" dirty="0" err="1">
                <a:solidFill>
                  <a:srgbClr val="444444"/>
                </a:solidFill>
              </a:rPr>
              <a:t>GeoJSON</a:t>
            </a:r>
            <a:r>
              <a:rPr sz="1200" dirty="0">
                <a:solidFill>
                  <a:srgbClr val="444444"/>
                </a:solidFill>
              </a:rPr>
              <a:t> (spatial), CSV (schedules), JSON (API communication)</a:t>
            </a:r>
          </a:p>
          <a:p>
            <a:pPr algn="l"/>
            <a:r>
              <a:rPr sz="1200" dirty="0">
                <a:solidFill>
                  <a:srgbClr val="444444"/>
                </a:solidFill>
              </a:rPr>
              <a:t>• MAPPING: OpenStreetMap data, OSM building footprints, campus pathways</a:t>
            </a:r>
          </a:p>
          <a:p>
            <a:pPr algn="l"/>
            <a:r>
              <a:rPr sz="1200" dirty="0">
                <a:solidFill>
                  <a:srgbClr val="444444"/>
                </a:solidFill>
              </a:rPr>
              <a:t>• DEPLOYMENT: Node.js 18+, Python 3.10+, Vite dev server + </a:t>
            </a:r>
            <a:r>
              <a:rPr sz="1200" dirty="0" err="1">
                <a:solidFill>
                  <a:srgbClr val="444444"/>
                </a:solidFill>
              </a:rPr>
              <a:t>Uvicorn</a:t>
            </a:r>
            <a:endParaRPr sz="1200" dirty="0">
              <a:solidFill>
                <a:srgbClr val="444444"/>
              </a:solidFill>
            </a:endParaRPr>
          </a:p>
        </p:txBody>
      </p:sp>
      <p:pic>
        <p:nvPicPr>
          <p:cNvPr id="114" name="Google Shape;114;p20" title="AMD.PS.S22.png"/>
          <p:cNvPicPr preferRelativeResize="0"/>
          <p:nvPr/>
        </p:nvPicPr>
        <p:blipFill rotWithShape="1">
          <a:blip r:embed="rId3">
            <a:alphaModFix/>
          </a:blip>
          <a:srcRect b="89082"/>
          <a:stretch/>
        </p:blipFill>
        <p:spPr>
          <a:xfrm>
            <a:off x="0" y="0"/>
            <a:ext cx="9144000" cy="561524"/>
          </a:xfrm>
          <a:prstGeom prst="rect">
            <a:avLst/>
          </a:prstGeom>
          <a:noFill/>
          <a:ln>
            <a:noFill/>
          </a:ln>
        </p:spPr>
      </p:pic>
      <p:pic>
        <p:nvPicPr>
          <p:cNvPr id="115" name="Google Shape;115;p20" title="AMD.PS.S11.png"/>
          <p:cNvPicPr preferRelativeResize="0"/>
          <p:nvPr/>
        </p:nvPicPr>
        <p:blipFill rotWithShape="1">
          <a:blip r:embed="rId4">
            <a:alphaModFix/>
          </a:blip>
          <a:srcRect t="98295"/>
          <a:stretch/>
        </p:blipFill>
        <p:spPr>
          <a:xfrm>
            <a:off x="0" y="5055825"/>
            <a:ext cx="9144000" cy="87674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7670CDAA-E441-4488-D9EA-75059E6A9E7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82547" y="1249775"/>
            <a:ext cx="4513608" cy="300907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1"/>
          <p:cNvSpPr txBox="1">
            <a:spLocks noGrp="1"/>
          </p:cNvSpPr>
          <p:nvPr>
            <p:ph type="ctrTitle"/>
          </p:nvPr>
        </p:nvSpPr>
        <p:spPr>
          <a:xfrm>
            <a:off x="311700" y="744575"/>
            <a:ext cx="8520600" cy="447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-GB" sz="1620" b="1" dirty="0">
                <a:latin typeface="Poppins"/>
                <a:ea typeface="Poppins"/>
                <a:cs typeface="Poppins"/>
                <a:sym typeface="Poppins"/>
              </a:rPr>
              <a:t>Usage of AMD Products/Solutions(Proposed)</a:t>
            </a:r>
            <a:endParaRPr sz="1620" b="1" dirty="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21" name="Google Shape;121;p21"/>
          <p:cNvSpPr txBox="1">
            <a:spLocks noGrp="1"/>
          </p:cNvSpPr>
          <p:nvPr>
            <p:ph type="subTitle" idx="1"/>
          </p:nvPr>
        </p:nvSpPr>
        <p:spPr>
          <a:xfrm>
            <a:off x="311700" y="1249775"/>
            <a:ext cx="8520600" cy="3525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600" dirty="0">
              <a:latin typeface="Poppins"/>
              <a:ea typeface="Poppins"/>
              <a:cs typeface="Poppins"/>
              <a:sym typeface="Poppins"/>
            </a:endParaRPr>
          </a:p>
          <a:p>
            <a:pPr algn="l"/>
            <a:r>
              <a:rPr sz="1400" dirty="0">
                <a:solidFill>
                  <a:srgbClr val="444444"/>
                </a:solidFill>
              </a:rPr>
              <a:t>• AMD GPU Acceleration: WebGL-powered 3D rendering of 1200+ agents in real-time on </a:t>
            </a:r>
            <a:r>
              <a:rPr sz="1400" dirty="0" err="1">
                <a:solidFill>
                  <a:srgbClr val="444444"/>
                </a:solidFill>
              </a:rPr>
              <a:t>MapLibre</a:t>
            </a:r>
            <a:r>
              <a:rPr sz="1400" dirty="0">
                <a:solidFill>
                  <a:srgbClr val="444444"/>
                </a:solidFill>
              </a:rPr>
              <a:t> GL</a:t>
            </a:r>
          </a:p>
          <a:p>
            <a:pPr algn="l"/>
            <a:r>
              <a:rPr sz="1400" dirty="0">
                <a:solidFill>
                  <a:srgbClr val="444444"/>
                </a:solidFill>
              </a:rPr>
              <a:t>• AMD Ryzen Processors: Backend AI inference and congestion analysis runs efficiently on AMD hardware</a:t>
            </a:r>
          </a:p>
          <a:p>
            <a:pPr algn="l"/>
            <a:r>
              <a:rPr sz="1400" dirty="0">
                <a:solidFill>
                  <a:srgbClr val="444444"/>
                </a:solidFill>
              </a:rPr>
              <a:t>• AMD Instinct (Future): Scale AI decision pipeline to handle campus-wide sensor data in real-time</a:t>
            </a:r>
          </a:p>
          <a:p>
            <a:pPr algn="l"/>
            <a:r>
              <a:rPr sz="1400" dirty="0">
                <a:solidFill>
                  <a:srgbClr val="444444"/>
                </a:solidFill>
              </a:rPr>
              <a:t>• AMD </a:t>
            </a:r>
            <a:r>
              <a:rPr sz="1400" dirty="0" err="1">
                <a:solidFill>
                  <a:srgbClr val="444444"/>
                </a:solidFill>
              </a:rPr>
              <a:t>ROCm</a:t>
            </a:r>
            <a:r>
              <a:rPr sz="1400" dirty="0">
                <a:solidFill>
                  <a:srgbClr val="444444"/>
                </a:solidFill>
              </a:rPr>
              <a:t> (Future): Optimize crowd prediction models using AMD's open-source ML framework</a:t>
            </a:r>
          </a:p>
          <a:p>
            <a:pPr algn="l"/>
            <a:r>
              <a:rPr sz="1400" dirty="0">
                <a:solidFill>
                  <a:srgbClr val="444444"/>
                </a:solidFill>
              </a:rPr>
              <a:t>• AMD Embedded (IoT): IoT edge processing on AMD Xilinx FPGAs for camera-based people counting</a:t>
            </a:r>
          </a:p>
          <a:p>
            <a:pPr algn="l"/>
            <a:r>
              <a:rPr sz="1400" dirty="0">
                <a:solidFill>
                  <a:srgbClr val="444444"/>
                </a:solidFill>
              </a:rPr>
              <a:t>• Performance: Smooth 60fps 3D rendering with 1000+ animated agents on AMD Radeon GPUs</a:t>
            </a:r>
          </a:p>
        </p:txBody>
      </p:sp>
      <p:pic>
        <p:nvPicPr>
          <p:cNvPr id="122" name="Google Shape;122;p21" title="AMD.PS.S22.png"/>
          <p:cNvPicPr preferRelativeResize="0"/>
          <p:nvPr/>
        </p:nvPicPr>
        <p:blipFill rotWithShape="1">
          <a:blip r:embed="rId3">
            <a:alphaModFix/>
          </a:blip>
          <a:srcRect b="89082"/>
          <a:stretch/>
        </p:blipFill>
        <p:spPr>
          <a:xfrm>
            <a:off x="0" y="0"/>
            <a:ext cx="9144000" cy="561524"/>
          </a:xfrm>
          <a:prstGeom prst="rect">
            <a:avLst/>
          </a:prstGeom>
          <a:noFill/>
          <a:ln>
            <a:noFill/>
          </a:ln>
        </p:spPr>
      </p:pic>
      <p:pic>
        <p:nvPicPr>
          <p:cNvPr id="123" name="Google Shape;123;p21" title="AMD.PS.S11.png"/>
          <p:cNvPicPr preferRelativeResize="0"/>
          <p:nvPr/>
        </p:nvPicPr>
        <p:blipFill rotWithShape="1">
          <a:blip r:embed="rId4">
            <a:alphaModFix/>
          </a:blip>
          <a:srcRect t="98295"/>
          <a:stretch/>
        </p:blipFill>
        <p:spPr>
          <a:xfrm>
            <a:off x="0" y="5055825"/>
            <a:ext cx="9144000" cy="876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22"/>
          <p:cNvSpPr txBox="1">
            <a:spLocks noGrp="1"/>
          </p:cNvSpPr>
          <p:nvPr>
            <p:ph type="ctrTitle"/>
          </p:nvPr>
        </p:nvSpPr>
        <p:spPr>
          <a:xfrm>
            <a:off x="311700" y="744575"/>
            <a:ext cx="8520600" cy="447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-GB" sz="1620" b="1" dirty="0">
                <a:latin typeface="Poppins"/>
                <a:ea typeface="Poppins"/>
                <a:cs typeface="Poppins"/>
                <a:sym typeface="Poppins"/>
              </a:rPr>
              <a:t>Estimated implementation cost (TBD)</a:t>
            </a:r>
            <a:endParaRPr sz="1620" b="1" dirty="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29" name="Google Shape;129;p22"/>
          <p:cNvSpPr txBox="1">
            <a:spLocks noGrp="1"/>
          </p:cNvSpPr>
          <p:nvPr>
            <p:ph type="subTitle" idx="1"/>
          </p:nvPr>
        </p:nvSpPr>
        <p:spPr>
          <a:xfrm>
            <a:off x="311700" y="1249775"/>
            <a:ext cx="8520600" cy="3525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600" dirty="0">
              <a:latin typeface="Poppins"/>
              <a:ea typeface="Poppins"/>
              <a:cs typeface="Poppins"/>
              <a:sym typeface="Poppins"/>
            </a:endParaRPr>
          </a:p>
          <a:p>
            <a:pPr algn="l"/>
            <a:r>
              <a:rPr sz="1600" dirty="0">
                <a:solidFill>
                  <a:srgbClr val="444444"/>
                </a:solidFill>
              </a:rPr>
              <a:t>• IoT Cameras</a:t>
            </a:r>
            <a:r>
              <a:rPr lang="en-US" sz="1600" dirty="0">
                <a:solidFill>
                  <a:srgbClr val="444444"/>
                </a:solidFill>
              </a:rPr>
              <a:t>,</a:t>
            </a:r>
            <a:r>
              <a:rPr sz="1600" dirty="0">
                <a:solidFill>
                  <a:srgbClr val="444444"/>
                </a:solidFill>
              </a:rPr>
              <a:t> Occupancy Sensors</a:t>
            </a:r>
            <a:r>
              <a:rPr lang="en-US" sz="1600" dirty="0">
                <a:solidFill>
                  <a:srgbClr val="444444"/>
                </a:solidFill>
              </a:rPr>
              <a:t>,</a:t>
            </a:r>
            <a:endParaRPr sz="1600" dirty="0">
              <a:solidFill>
                <a:srgbClr val="444444"/>
              </a:solidFill>
            </a:endParaRPr>
          </a:p>
          <a:p>
            <a:pPr algn="l"/>
            <a:r>
              <a:rPr sz="1600" dirty="0">
                <a:solidFill>
                  <a:srgbClr val="444444"/>
                </a:solidFill>
              </a:rPr>
              <a:t>• Edge Computing Hardware (AMD Xilinx FPGAs</a:t>
            </a:r>
            <a:r>
              <a:rPr lang="en-US" sz="1600" dirty="0">
                <a:solidFill>
                  <a:srgbClr val="444444"/>
                </a:solidFill>
              </a:rPr>
              <a:t>)</a:t>
            </a:r>
            <a:endParaRPr sz="1600" dirty="0">
              <a:solidFill>
                <a:srgbClr val="444444"/>
              </a:solidFill>
            </a:endParaRPr>
          </a:p>
          <a:p>
            <a:pPr algn="l"/>
            <a:r>
              <a:rPr sz="1600" dirty="0">
                <a:solidFill>
                  <a:srgbClr val="444444"/>
                </a:solidFill>
              </a:rPr>
              <a:t>• Cloud Server (FastAPI + AI APIs</a:t>
            </a:r>
            <a:r>
              <a:rPr lang="en-US" sz="1600" dirty="0">
                <a:solidFill>
                  <a:srgbClr val="444444"/>
                </a:solidFill>
              </a:rPr>
              <a:t>)</a:t>
            </a:r>
          </a:p>
          <a:p>
            <a:pPr algn="l"/>
            <a:r>
              <a:rPr sz="1600" dirty="0">
                <a:solidFill>
                  <a:srgbClr val="444444"/>
                </a:solidFill>
              </a:rPr>
              <a:t>• AI API Costs (Gemini/GPT</a:t>
            </a:r>
          </a:p>
          <a:p>
            <a:pPr algn="l"/>
            <a:r>
              <a:rPr sz="1600" dirty="0">
                <a:solidFill>
                  <a:srgbClr val="444444"/>
                </a:solidFill>
              </a:rPr>
              <a:t>• Development &amp; Maintenance: Open Source </a:t>
            </a:r>
            <a:endParaRPr lang="en-US" sz="1600" dirty="0">
              <a:solidFill>
                <a:srgbClr val="444444"/>
              </a:solidFill>
            </a:endParaRPr>
          </a:p>
          <a:p>
            <a:pPr algn="l"/>
            <a:endParaRPr lang="en-US" sz="1600" dirty="0">
              <a:solidFill>
                <a:srgbClr val="444444"/>
              </a:solidFill>
            </a:endParaRPr>
          </a:p>
          <a:p>
            <a:pPr algn="l"/>
            <a:r>
              <a:rPr lang="en-US" sz="1600" b="1" dirty="0">
                <a:solidFill>
                  <a:srgbClr val="444444"/>
                </a:solidFill>
              </a:rPr>
              <a:t>Currently using free tier deployments, if support given services/compute from AMD can be used to deploy with in the Smart City Living Lab –IIITH Campus</a:t>
            </a:r>
          </a:p>
          <a:p>
            <a:pPr algn="l"/>
            <a:endParaRPr lang="en-US" sz="1600" dirty="0">
              <a:solidFill>
                <a:srgbClr val="444444"/>
              </a:solidFill>
            </a:endParaRPr>
          </a:p>
          <a:p>
            <a:pPr algn="l"/>
            <a:endParaRPr lang="en-IN" sz="1600" dirty="0">
              <a:solidFill>
                <a:srgbClr val="444444"/>
              </a:solidFill>
            </a:endParaRPr>
          </a:p>
          <a:p>
            <a:pPr algn="l"/>
            <a:r>
              <a:rPr lang="en-IN" sz="1600" dirty="0">
                <a:solidFill>
                  <a:srgbClr val="444444"/>
                </a:solidFill>
              </a:rPr>
              <a:t>      </a:t>
            </a:r>
          </a:p>
          <a:p>
            <a:pPr algn="l"/>
            <a:endParaRPr lang="en-IN" sz="1600" dirty="0">
              <a:solidFill>
                <a:srgbClr val="444444"/>
              </a:solidFill>
            </a:endParaRPr>
          </a:p>
          <a:p>
            <a:pPr algn="l"/>
            <a:endParaRPr lang="en-IN" sz="1600" dirty="0">
              <a:solidFill>
                <a:srgbClr val="444444"/>
              </a:solidFill>
            </a:endParaRPr>
          </a:p>
          <a:p>
            <a:pPr algn="l"/>
            <a:endParaRPr lang="en-IN" sz="1600" dirty="0">
              <a:solidFill>
                <a:srgbClr val="444444"/>
              </a:solidFill>
            </a:endParaRPr>
          </a:p>
          <a:p>
            <a:pPr algn="l"/>
            <a:endParaRPr lang="en-IN" sz="1600" dirty="0">
              <a:solidFill>
                <a:srgbClr val="444444"/>
              </a:solidFill>
            </a:endParaRPr>
          </a:p>
        </p:txBody>
      </p:sp>
      <p:pic>
        <p:nvPicPr>
          <p:cNvPr id="130" name="Google Shape;130;p22" title="AMD.PS.S22.png"/>
          <p:cNvPicPr preferRelativeResize="0"/>
          <p:nvPr/>
        </p:nvPicPr>
        <p:blipFill rotWithShape="1">
          <a:blip r:embed="rId3">
            <a:alphaModFix/>
          </a:blip>
          <a:srcRect b="89082"/>
          <a:stretch/>
        </p:blipFill>
        <p:spPr>
          <a:xfrm>
            <a:off x="0" y="0"/>
            <a:ext cx="9144000" cy="561524"/>
          </a:xfrm>
          <a:prstGeom prst="rect">
            <a:avLst/>
          </a:prstGeom>
          <a:noFill/>
          <a:ln>
            <a:noFill/>
          </a:ln>
        </p:spPr>
      </p:pic>
      <p:pic>
        <p:nvPicPr>
          <p:cNvPr id="131" name="Google Shape;131;p22" title="AMD.PS.S11.png"/>
          <p:cNvPicPr preferRelativeResize="0"/>
          <p:nvPr/>
        </p:nvPicPr>
        <p:blipFill rotWithShape="1">
          <a:blip r:embed="rId4">
            <a:alphaModFix/>
          </a:blip>
          <a:srcRect t="98295"/>
          <a:stretch/>
        </p:blipFill>
        <p:spPr>
          <a:xfrm>
            <a:off x="0" y="5055825"/>
            <a:ext cx="9144000" cy="876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23"/>
          <p:cNvSpPr txBox="1">
            <a:spLocks noGrp="1"/>
          </p:cNvSpPr>
          <p:nvPr>
            <p:ph type="subTitle" idx="1"/>
          </p:nvPr>
        </p:nvSpPr>
        <p:spPr>
          <a:xfrm>
            <a:off x="311700" y="1926000"/>
            <a:ext cx="8520600" cy="2848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1400">
                <a:solidFill>
                  <a:srgbClr val="333333"/>
                </a:solidFill>
              </a:rPr>
              <a:t>GitHub: https://github.com/your-team/CrowdTwin</a:t>
            </a:r>
            <a:endParaRPr sz="1300">
              <a:latin typeface="Poppins"/>
              <a:ea typeface="Poppins"/>
              <a:cs typeface="Poppins"/>
              <a:sym typeface="Poppins"/>
            </a:endParaRPr>
          </a:p>
          <a:p>
            <a:pPr algn="l"/>
            <a:r>
              <a:rPr sz="1400">
                <a:solidFill>
                  <a:srgbClr val="333333"/>
                </a:solidFill>
              </a:rPr>
              <a:t>Demo Video: [Upload link here]</a:t>
            </a:r>
          </a:p>
          <a:p>
            <a:pPr algn="l"/>
            <a:r>
              <a:rPr sz="1400">
                <a:solidFill>
                  <a:srgbClr val="333333"/>
                </a:solidFill>
              </a:rPr>
              <a:t>Live App: http://localhost:5173</a:t>
            </a:r>
          </a:p>
        </p:txBody>
      </p:sp>
      <p:sp>
        <p:nvSpPr>
          <p:cNvPr id="137" name="Google Shape;137;p23"/>
          <p:cNvSpPr txBox="1">
            <a:spLocks noGrp="1"/>
          </p:cNvSpPr>
          <p:nvPr>
            <p:ph type="ctrTitle"/>
          </p:nvPr>
        </p:nvSpPr>
        <p:spPr>
          <a:xfrm>
            <a:off x="311700" y="744575"/>
            <a:ext cx="8520600" cy="447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-GB" sz="1620" b="1">
                <a:latin typeface="Poppins"/>
                <a:ea typeface="Poppins"/>
                <a:cs typeface="Poppins"/>
                <a:sym typeface="Poppins"/>
              </a:rPr>
              <a:t>Prototype Assets (Optional)</a:t>
            </a:r>
            <a:endParaRPr sz="1620" b="1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38" name="Google Shape;138;p23"/>
          <p:cNvSpPr txBox="1"/>
          <p:nvPr/>
        </p:nvSpPr>
        <p:spPr>
          <a:xfrm>
            <a:off x="311700" y="1192175"/>
            <a:ext cx="8520600" cy="64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Char char="➔"/>
            </a:pPr>
            <a:r>
              <a:rPr lang="en-GB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GitHub Public Repository Link</a:t>
            </a:r>
            <a:endParaRPr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45720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oppins"/>
              <a:buChar char="➔"/>
            </a:pPr>
            <a:r>
              <a:rPr lang="en-GB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Demo Video Link (Max: 3 Minutes)</a:t>
            </a:r>
            <a:endParaRPr/>
          </a:p>
        </p:txBody>
      </p:sp>
      <p:pic>
        <p:nvPicPr>
          <p:cNvPr id="139" name="Google Shape;139;p23" title="AMD.PS.S22.png"/>
          <p:cNvPicPr preferRelativeResize="0"/>
          <p:nvPr/>
        </p:nvPicPr>
        <p:blipFill rotWithShape="1">
          <a:blip r:embed="rId3">
            <a:alphaModFix/>
          </a:blip>
          <a:srcRect b="89082"/>
          <a:stretch/>
        </p:blipFill>
        <p:spPr>
          <a:xfrm>
            <a:off x="0" y="0"/>
            <a:ext cx="9144000" cy="561524"/>
          </a:xfrm>
          <a:prstGeom prst="rect">
            <a:avLst/>
          </a:prstGeom>
          <a:noFill/>
          <a:ln>
            <a:noFill/>
          </a:ln>
        </p:spPr>
      </p:pic>
      <p:pic>
        <p:nvPicPr>
          <p:cNvPr id="140" name="Google Shape;140;p23" title="AMD.PS.S11.png"/>
          <p:cNvPicPr preferRelativeResize="0"/>
          <p:nvPr/>
        </p:nvPicPr>
        <p:blipFill rotWithShape="1">
          <a:blip r:embed="rId4">
            <a:alphaModFix/>
          </a:blip>
          <a:srcRect t="98295"/>
          <a:stretch/>
        </p:blipFill>
        <p:spPr>
          <a:xfrm>
            <a:off x="0" y="5055825"/>
            <a:ext cx="9144000" cy="876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4"/>
          <p:cNvSpPr txBox="1">
            <a:spLocks noGrp="1"/>
          </p:cNvSpPr>
          <p:nvPr>
            <p:ph type="subTitle" idx="1"/>
          </p:nvPr>
        </p:nvSpPr>
        <p:spPr>
          <a:xfrm>
            <a:off x="311700" y="1285750"/>
            <a:ext cx="8520600" cy="3489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1400" b="1" dirty="0">
                <a:solidFill>
                  <a:srgbClr val="333333"/>
                </a:solidFill>
                <a:latin typeface="+mj-lt"/>
              </a:rPr>
              <a:t>IoT Sensor Deployment Plan</a:t>
            </a:r>
            <a:r>
              <a:rPr lang="en-US" sz="1400" b="1" dirty="0">
                <a:solidFill>
                  <a:srgbClr val="333333"/>
                </a:solidFill>
                <a:latin typeface="+mj-lt"/>
              </a:rPr>
              <a:t>(at Smart City Living Lab)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 dirty="0">
              <a:latin typeface="+mj-lt"/>
              <a:ea typeface="Poppins"/>
              <a:cs typeface="Poppins"/>
              <a:sym typeface="Poppins"/>
            </a:endParaRPr>
          </a:p>
          <a:p>
            <a:pPr algn="l"/>
            <a:r>
              <a:rPr sz="1400" dirty="0">
                <a:solidFill>
                  <a:srgbClr val="444444"/>
                </a:solidFill>
                <a:latin typeface="+mj-lt"/>
              </a:rPr>
              <a:t>• Camera Nodes (8+): Deployed at all building entrances and main road intersections</a:t>
            </a:r>
          </a:p>
          <a:p>
            <a:pPr algn="l"/>
            <a:r>
              <a:rPr sz="1400" dirty="0">
                <a:solidFill>
                  <a:srgbClr val="444444"/>
                </a:solidFill>
                <a:latin typeface="+mj-lt"/>
              </a:rPr>
              <a:t>•    → Data: People count, direction (in/out), GPS coordinates, timestamps</a:t>
            </a:r>
          </a:p>
          <a:p>
            <a:pPr algn="l"/>
            <a:r>
              <a:rPr sz="1400" dirty="0">
                <a:solidFill>
                  <a:srgbClr val="444444"/>
                </a:solidFill>
                <a:latin typeface="+mj-lt"/>
              </a:rPr>
              <a:t>•    </a:t>
            </a:r>
            <a:r>
              <a:rPr lang="en-IN" sz="1400" dirty="0">
                <a:solidFill>
                  <a:srgbClr val="444444"/>
                </a:solidFill>
                <a:latin typeface="+mj-lt"/>
              </a:rPr>
              <a:t>→</a:t>
            </a:r>
            <a:r>
              <a:rPr sz="1400" dirty="0">
                <a:solidFill>
                  <a:srgbClr val="444444"/>
                </a:solidFill>
                <a:latin typeface="+mj-lt"/>
              </a:rPr>
              <a:t> Frequency: Real-time (1-5 second intervals)</a:t>
            </a:r>
          </a:p>
          <a:p>
            <a:pPr algn="l"/>
            <a:endParaRPr sz="1400" dirty="0">
              <a:solidFill>
                <a:srgbClr val="444444"/>
              </a:solidFill>
              <a:latin typeface="+mj-lt"/>
            </a:endParaRPr>
          </a:p>
          <a:p>
            <a:pPr algn="l"/>
            <a:r>
              <a:rPr sz="1400" dirty="0">
                <a:solidFill>
                  <a:srgbClr val="444444"/>
                </a:solidFill>
                <a:latin typeface="+mj-lt"/>
              </a:rPr>
              <a:t>• Building Occupancy Sensors (30+): Installed in all classified buildings</a:t>
            </a:r>
          </a:p>
          <a:p>
            <a:pPr algn="l"/>
            <a:r>
              <a:rPr sz="1400" dirty="0">
                <a:solidFill>
                  <a:srgbClr val="444444"/>
                </a:solidFill>
                <a:latin typeface="+mj-lt"/>
              </a:rPr>
              <a:t>•    → Data: Current occupancy, capacity, last update timestamp</a:t>
            </a:r>
          </a:p>
          <a:p>
            <a:pPr algn="l"/>
            <a:r>
              <a:rPr sz="1400" dirty="0">
                <a:solidFill>
                  <a:srgbClr val="444444"/>
                </a:solidFill>
                <a:latin typeface="+mj-lt"/>
              </a:rPr>
              <a:t>•    → Categories: Hostels, Academics, Canteens, Recreation, Admin, Gates</a:t>
            </a:r>
          </a:p>
          <a:p>
            <a:pPr algn="l"/>
            <a:endParaRPr sz="1400" dirty="0">
              <a:solidFill>
                <a:srgbClr val="444444"/>
              </a:solidFill>
              <a:latin typeface="+mj-lt"/>
            </a:endParaRPr>
          </a:p>
          <a:p>
            <a:pPr algn="l"/>
            <a:r>
              <a:rPr sz="1400" dirty="0">
                <a:solidFill>
                  <a:srgbClr val="444444"/>
                </a:solidFill>
                <a:latin typeface="+mj-lt"/>
              </a:rPr>
              <a:t>• Road Monitors (1</a:t>
            </a:r>
            <a:r>
              <a:rPr lang="en-US" sz="1400" dirty="0">
                <a:solidFill>
                  <a:srgbClr val="444444"/>
                </a:solidFill>
                <a:latin typeface="+mj-lt"/>
              </a:rPr>
              <a:t>0</a:t>
            </a:r>
            <a:r>
              <a:rPr sz="1400" dirty="0">
                <a:solidFill>
                  <a:srgbClr val="444444"/>
                </a:solidFill>
                <a:latin typeface="+mj-lt"/>
              </a:rPr>
              <a:t>+): Placed along campus pathways</a:t>
            </a:r>
          </a:p>
          <a:p>
            <a:pPr algn="l"/>
            <a:r>
              <a:rPr sz="1400" dirty="0">
                <a:solidFill>
                  <a:srgbClr val="444444"/>
                </a:solidFill>
                <a:latin typeface="+mj-lt"/>
              </a:rPr>
              <a:t>•    → Data: Traffic flow, congestion level, road status</a:t>
            </a:r>
          </a:p>
          <a:p>
            <a:pPr algn="l"/>
            <a:r>
              <a:rPr sz="1400" dirty="0">
                <a:solidFill>
                  <a:srgbClr val="444444"/>
                </a:solidFill>
                <a:latin typeface="+mj-lt"/>
              </a:rPr>
              <a:t>•    → Control: Open / Soft Close / Hard Close via REST API</a:t>
            </a:r>
          </a:p>
          <a:p>
            <a:pPr algn="l"/>
            <a:endParaRPr sz="1400" dirty="0">
              <a:solidFill>
                <a:srgbClr val="444444"/>
              </a:solidFill>
              <a:latin typeface="+mj-lt"/>
            </a:endParaRPr>
          </a:p>
          <a:p>
            <a:pPr algn="l"/>
            <a:r>
              <a:rPr sz="1400" dirty="0">
                <a:solidFill>
                  <a:srgbClr val="444444"/>
                </a:solidFill>
                <a:latin typeface="+mj-lt"/>
              </a:rPr>
              <a:t>• Environmental Sensors (Future): Temperature, humidity, air quality in high-density zones</a:t>
            </a:r>
          </a:p>
        </p:txBody>
      </p:sp>
      <p:sp>
        <p:nvSpPr>
          <p:cNvPr id="146" name="Google Shape;146;p24"/>
          <p:cNvSpPr txBox="1">
            <a:spLocks noGrp="1"/>
          </p:cNvSpPr>
          <p:nvPr>
            <p:ph type="ctrTitle"/>
          </p:nvPr>
        </p:nvSpPr>
        <p:spPr>
          <a:xfrm>
            <a:off x="311700" y="744575"/>
            <a:ext cx="8520600" cy="447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-GB" sz="1620" b="1" dirty="0">
                <a:latin typeface="Poppins"/>
                <a:ea typeface="Poppins"/>
                <a:cs typeface="Poppins"/>
                <a:sym typeface="Poppins"/>
              </a:rPr>
              <a:t>Real Time Validation</a:t>
            </a:r>
            <a:endParaRPr sz="1620" b="1" dirty="0">
              <a:latin typeface="Poppins"/>
              <a:ea typeface="Poppins"/>
              <a:cs typeface="Poppins"/>
              <a:sym typeface="Poppins"/>
            </a:endParaRPr>
          </a:p>
        </p:txBody>
      </p:sp>
      <p:pic>
        <p:nvPicPr>
          <p:cNvPr id="147" name="Google Shape;147;p24" title="AMD.PS.S22.png"/>
          <p:cNvPicPr preferRelativeResize="0"/>
          <p:nvPr/>
        </p:nvPicPr>
        <p:blipFill rotWithShape="1">
          <a:blip r:embed="rId3">
            <a:alphaModFix/>
          </a:blip>
          <a:srcRect b="89082"/>
          <a:stretch/>
        </p:blipFill>
        <p:spPr>
          <a:xfrm>
            <a:off x="0" y="0"/>
            <a:ext cx="9144000" cy="561524"/>
          </a:xfrm>
          <a:prstGeom prst="rect">
            <a:avLst/>
          </a:prstGeom>
          <a:noFill/>
          <a:ln>
            <a:noFill/>
          </a:ln>
        </p:spPr>
      </p:pic>
      <p:pic>
        <p:nvPicPr>
          <p:cNvPr id="148" name="Google Shape;148;p24" title="AMD.PS.S11.png"/>
          <p:cNvPicPr preferRelativeResize="0"/>
          <p:nvPr/>
        </p:nvPicPr>
        <p:blipFill rotWithShape="1">
          <a:blip r:embed="rId4">
            <a:alphaModFix/>
          </a:blip>
          <a:srcRect t="98295"/>
          <a:stretch/>
        </p:blipFill>
        <p:spPr>
          <a:xfrm>
            <a:off x="0" y="5055825"/>
            <a:ext cx="9144000" cy="876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27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6" name="Google Shape;166;p27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67" name="Google Shape;167;p27" title="AMD.PS.S33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1177</Words>
  <Application>Microsoft Macintosh PowerPoint</Application>
  <PresentationFormat>On-screen Show (16:9)</PresentationFormat>
  <Paragraphs>112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Poppins</vt:lpstr>
      <vt:lpstr>Simple Light</vt:lpstr>
      <vt:lpstr>PowerPoint Presentation</vt:lpstr>
      <vt:lpstr>Brief about the idea</vt:lpstr>
      <vt:lpstr>Opportunities</vt:lpstr>
      <vt:lpstr>List of features offered by the solution</vt:lpstr>
      <vt:lpstr>Process flow diagram or Use-case diagram</vt:lpstr>
      <vt:lpstr>Wireframes/Mock diagrams of the proposed solution</vt:lpstr>
      <vt:lpstr>Architecture diagram of the proposed solution</vt:lpstr>
      <vt:lpstr>Technologies to be used in the solution</vt:lpstr>
      <vt:lpstr>Usage of AMD Products/Solutions(Proposed)</vt:lpstr>
      <vt:lpstr>Estimated implementation cost (TBD)</vt:lpstr>
      <vt:lpstr>Prototype Assets (Optional)</vt:lpstr>
      <vt:lpstr>Real Time Validation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Balalikhith Kanigolla</cp:lastModifiedBy>
  <cp:revision>2</cp:revision>
  <dcterms:modified xsi:type="dcterms:W3CDTF">2026-03-01T11:12:23Z</dcterms:modified>
</cp:coreProperties>
</file>